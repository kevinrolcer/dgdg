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2" r:id="rId3"/>
    <p:sldId id="258" r:id="rId4"/>
    <p:sldId id="257" r:id="rId5"/>
    <p:sldId id="259" r:id="rId6"/>
    <p:sldId id="260" r:id="rId7"/>
    <p:sldId id="261" r:id="rId8"/>
  </p:sldIdLst>
  <p:sldSz cx="13716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Gilroy" panose="020B0604020202020204" charset="0"/>
      <p:regular r:id="rId13"/>
    </p:embeddedFont>
    <p:embeddedFont>
      <p:font typeface="Gilroy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312D"/>
    <a:srgbClr val="841E38"/>
    <a:srgbClr val="CFAB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1104" y="68"/>
      </p:cViewPr>
      <p:guideLst>
        <p:guide orient="horz" pos="216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3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4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3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3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0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0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273050"/>
            <a:ext cx="22562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273053"/>
            <a:ext cx="38338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1435103"/>
            <a:ext cx="22562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41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41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3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3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3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3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3715999" cy="10287000"/>
          </a:xfrm>
          <a:custGeom>
            <a:avLst/>
            <a:gdLst/>
            <a:ahLst/>
            <a:cxnLst/>
            <a:rect l="l" t="t" r="r" b="b"/>
            <a:pathLst>
              <a:path w="13312588" h="10287000">
                <a:moveTo>
                  <a:pt x="0" y="0"/>
                </a:moveTo>
                <a:lnTo>
                  <a:pt x="13312588" y="0"/>
                </a:lnTo>
                <a:lnTo>
                  <a:pt x="133125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0" r="-1140" b="-225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7524" y="411818"/>
            <a:ext cx="6985007" cy="869843"/>
          </a:xfrm>
          <a:custGeom>
            <a:avLst/>
            <a:gdLst/>
            <a:ahLst/>
            <a:cxnLst/>
            <a:rect l="l" t="t" r="r" b="b"/>
            <a:pathLst>
              <a:path w="6985006" h="869843">
                <a:moveTo>
                  <a:pt x="0" y="0"/>
                </a:moveTo>
                <a:lnTo>
                  <a:pt x="6985006" y="0"/>
                </a:lnTo>
                <a:lnTo>
                  <a:pt x="6985006" y="869844"/>
                </a:lnTo>
                <a:lnTo>
                  <a:pt x="0" y="869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7523" y="9586623"/>
            <a:ext cx="7468012" cy="168216"/>
          </a:xfrm>
          <a:custGeom>
            <a:avLst/>
            <a:gdLst/>
            <a:ahLst/>
            <a:cxnLst/>
            <a:rect l="l" t="t" r="r" b="b"/>
            <a:pathLst>
              <a:path w="7468012" h="168216">
                <a:moveTo>
                  <a:pt x="0" y="0"/>
                </a:moveTo>
                <a:lnTo>
                  <a:pt x="7468012" y="0"/>
                </a:lnTo>
                <a:lnTo>
                  <a:pt x="7468012" y="168216"/>
                </a:lnTo>
                <a:lnTo>
                  <a:pt x="0" y="168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58983" y="4027489"/>
            <a:ext cx="11255188" cy="111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264"/>
              </a:lnSpc>
              <a:spcBef>
                <a:spcPct val="0"/>
              </a:spcBef>
            </a:pPr>
            <a:r>
              <a:rPr lang="en-US" sz="6617" b="1" dirty="0">
                <a:solidFill>
                  <a:srgbClr val="FFFFFF"/>
                </a:solidFill>
                <a:latin typeface="Gilroy Bold"/>
                <a:ea typeface="Gilroy Bold"/>
                <a:cs typeface="Gilroy Bold"/>
                <a:sym typeface="Gilroy Bold"/>
              </a:rPr>
              <a:t>MESAS DE PAZ Y SEGURIDAD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8983" y="3362435"/>
            <a:ext cx="9666192" cy="6650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9"/>
              </a:lnSpc>
            </a:pPr>
            <a:r>
              <a:rPr lang="en-US" sz="3971" dirty="0" err="1">
                <a:solidFill>
                  <a:srgbClr val="C79C67"/>
                </a:solidFill>
                <a:latin typeface="Gilroy"/>
                <a:ea typeface="Gilroy"/>
                <a:cs typeface="Gilroy"/>
                <a:sym typeface="Gilroy"/>
              </a:rPr>
              <a:t>Fecha</a:t>
            </a:r>
            <a:endParaRPr lang="en-US" sz="3971" dirty="0">
              <a:solidFill>
                <a:srgbClr val="C79C67"/>
              </a:solidFill>
              <a:latin typeface="Gilroy"/>
              <a:ea typeface="Gilroy"/>
              <a:cs typeface="Gilroy"/>
              <a:sym typeface="Gilroy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383090" y="9426304"/>
            <a:ext cx="4708687" cy="39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35"/>
              </a:lnSpc>
              <a:spcBef>
                <a:spcPct val="0"/>
              </a:spcBef>
            </a:pPr>
            <a:r>
              <a:rPr lang="en-US" sz="2381">
                <a:solidFill>
                  <a:srgbClr val="FFFFFF"/>
                </a:solidFill>
                <a:latin typeface="Gilroy"/>
                <a:ea typeface="Gilroy"/>
                <a:cs typeface="Gilroy"/>
                <a:sym typeface="Gilroy"/>
              </a:rPr>
              <a:t>30 de Febrero del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7394" y="5278054"/>
            <a:ext cx="9068615" cy="66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59"/>
              </a:lnSpc>
            </a:pPr>
            <a:r>
              <a:rPr lang="en-US" sz="3971" dirty="0" err="1">
                <a:solidFill>
                  <a:srgbClr val="FFFFFF"/>
                </a:solidFill>
                <a:latin typeface="Gilroy"/>
                <a:ea typeface="Gilroy"/>
                <a:cs typeface="Gilroy"/>
                <a:sym typeface="Gilroy"/>
              </a:rPr>
              <a:t>Dirección</a:t>
            </a:r>
            <a:r>
              <a:rPr lang="en-US" sz="3971" dirty="0">
                <a:solidFill>
                  <a:srgbClr val="FFFFFF"/>
                </a:solidFill>
                <a:latin typeface="Gilroy"/>
                <a:ea typeface="Gilroy"/>
                <a:cs typeface="Gilroy"/>
                <a:sym typeface="Gilroy"/>
              </a:rPr>
              <a:t> General de </a:t>
            </a:r>
            <a:r>
              <a:rPr lang="en-US" sz="3971" dirty="0" err="1">
                <a:solidFill>
                  <a:srgbClr val="FFFFFF"/>
                </a:solidFill>
                <a:latin typeface="Gilroy"/>
                <a:ea typeface="Gilroy"/>
                <a:cs typeface="Gilroy"/>
                <a:sym typeface="Gilroy"/>
              </a:rPr>
              <a:t>Delegaciones</a:t>
            </a:r>
            <a:endParaRPr lang="en-US" sz="3971" dirty="0">
              <a:solidFill>
                <a:srgbClr val="FFFFFF"/>
              </a:solidFill>
              <a:latin typeface="Gilroy"/>
              <a:ea typeface="Gilroy"/>
              <a:cs typeface="Gilroy"/>
              <a:sym typeface="Gilro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"/>
            <a:ext cx="13715999" cy="10283975"/>
          </a:xfrm>
          <a:custGeom>
            <a:avLst/>
            <a:gdLst/>
            <a:ahLst/>
            <a:cxnLst/>
            <a:rect l="l" t="t" r="r" b="b"/>
            <a:pathLst>
              <a:path w="13312588" h="10283974">
                <a:moveTo>
                  <a:pt x="0" y="0"/>
                </a:moveTo>
                <a:lnTo>
                  <a:pt x="13312588" y="0"/>
                </a:lnTo>
                <a:lnTo>
                  <a:pt x="13312588" y="10283974"/>
                </a:lnTo>
                <a:lnTo>
                  <a:pt x="0" y="10283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01527" y="1703006"/>
            <a:ext cx="6477000" cy="1055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64"/>
              </a:lnSpc>
              <a:spcBef>
                <a:spcPct val="0"/>
              </a:spcBef>
            </a:pPr>
            <a:r>
              <a:rPr lang="en-US" sz="4400" b="1" dirty="0">
                <a:latin typeface="Gilroy Bold"/>
                <a:ea typeface="Gilroy Bold"/>
                <a:cs typeface="Gilroy Bold"/>
                <a:sym typeface="Gilroy Bold"/>
              </a:rPr>
              <a:t>ORDEN DEL DÍA</a:t>
            </a:r>
          </a:p>
        </p:txBody>
      </p:sp>
      <p:sp>
        <p:nvSpPr>
          <p:cNvPr id="4" name="Freeform 4"/>
          <p:cNvSpPr/>
          <p:nvPr/>
        </p:nvSpPr>
        <p:spPr>
          <a:xfrm>
            <a:off x="747524" y="477342"/>
            <a:ext cx="6985007" cy="738799"/>
          </a:xfrm>
          <a:custGeom>
            <a:avLst/>
            <a:gdLst/>
            <a:ahLst/>
            <a:cxnLst/>
            <a:rect l="l" t="t" r="r" b="b"/>
            <a:pathLst>
              <a:path w="6985006" h="738799">
                <a:moveTo>
                  <a:pt x="0" y="0"/>
                </a:moveTo>
                <a:lnTo>
                  <a:pt x="6985006" y="0"/>
                </a:lnTo>
                <a:lnTo>
                  <a:pt x="6985006" y="738798"/>
                </a:lnTo>
                <a:lnTo>
                  <a:pt x="0" y="738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368701" y="9426304"/>
            <a:ext cx="4723075" cy="39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35"/>
              </a:lnSpc>
              <a:spcBef>
                <a:spcPct val="0"/>
              </a:spcBef>
            </a:pPr>
            <a:r>
              <a:rPr lang="en-US" sz="2381">
                <a:solidFill>
                  <a:srgbClr val="4B4B4B"/>
                </a:solidFill>
                <a:latin typeface="Gilroy"/>
                <a:ea typeface="Gilroy"/>
                <a:cs typeface="Gilroy"/>
                <a:sym typeface="Gilroy"/>
              </a:rPr>
              <a:t>30 de Febrero del 2026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7523" y="9670731"/>
            <a:ext cx="7468012" cy="143471"/>
            <a:chOff x="0" y="0"/>
            <a:chExt cx="9957349" cy="1912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57349" cy="191294"/>
            </a:xfrm>
            <a:custGeom>
              <a:avLst/>
              <a:gdLst/>
              <a:ahLst/>
              <a:cxnLst/>
              <a:rect l="l" t="t" r="r" b="b"/>
              <a:pathLst>
                <a:path w="9957349" h="191294">
                  <a:moveTo>
                    <a:pt x="0" y="0"/>
                  </a:moveTo>
                  <a:lnTo>
                    <a:pt x="9957349" y="0"/>
                  </a:lnTo>
                  <a:lnTo>
                    <a:pt x="9957349" y="191294"/>
                  </a:lnTo>
                  <a:lnTo>
                    <a:pt x="0" y="19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9957349" cy="191294"/>
            </a:xfrm>
            <a:custGeom>
              <a:avLst/>
              <a:gdLst/>
              <a:ahLst/>
              <a:cxnLst/>
              <a:rect l="l" t="t" r="r" b="b"/>
              <a:pathLst>
                <a:path w="9957349" h="191294">
                  <a:moveTo>
                    <a:pt x="0" y="0"/>
                  </a:moveTo>
                  <a:lnTo>
                    <a:pt x="9957349" y="0"/>
                  </a:lnTo>
                  <a:lnTo>
                    <a:pt x="9957349" y="191294"/>
                  </a:lnTo>
                  <a:lnTo>
                    <a:pt x="0" y="19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TextBox 5">
            <a:extLst>
              <a:ext uri="{FF2B5EF4-FFF2-40B4-BE49-F238E27FC236}">
                <a16:creationId xmlns:a16="http://schemas.microsoft.com/office/drawing/2014/main" id="{889021D9-83F2-483B-8EA3-0C079360380B}"/>
              </a:ext>
            </a:extLst>
          </p:cNvPr>
          <p:cNvSpPr txBox="1"/>
          <p:nvPr/>
        </p:nvSpPr>
        <p:spPr>
          <a:xfrm>
            <a:off x="1719962" y="3543300"/>
            <a:ext cx="10276073" cy="2819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lnSpc>
                <a:spcPts val="5559"/>
              </a:lnSpc>
              <a:buFont typeface="+mj-lt"/>
              <a:buAutoNum type="arabicPeriod"/>
            </a:pPr>
            <a:r>
              <a:rPr lang="en-US" sz="3971" dirty="0" err="1">
                <a:latin typeface="Gilroy"/>
                <a:ea typeface="Gilroy"/>
                <a:cs typeface="Gilroy"/>
                <a:sym typeface="Gilroy"/>
              </a:rPr>
              <a:t>Reporte</a:t>
            </a:r>
            <a:r>
              <a:rPr lang="en-US" sz="3971" dirty="0">
                <a:latin typeface="Gilroy"/>
                <a:ea typeface="Gilroy"/>
                <a:cs typeface="Gilroy"/>
                <a:sym typeface="Gilroy"/>
              </a:rPr>
              <a:t> General.</a:t>
            </a:r>
          </a:p>
          <a:p>
            <a:pPr marL="742950" indent="-742950">
              <a:lnSpc>
                <a:spcPts val="5559"/>
              </a:lnSpc>
              <a:buFont typeface="+mj-lt"/>
              <a:buAutoNum type="arabicPeriod"/>
            </a:pPr>
            <a:r>
              <a:rPr lang="en-US" sz="3971" dirty="0" err="1">
                <a:latin typeface="Gilroy"/>
                <a:ea typeface="Gilroy"/>
                <a:cs typeface="Gilroy"/>
                <a:sym typeface="Gilroy"/>
              </a:rPr>
              <a:t>Reporte</a:t>
            </a:r>
            <a:r>
              <a:rPr lang="en-US" sz="3971" dirty="0"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3971" dirty="0" err="1">
                <a:latin typeface="Gilroy"/>
                <a:ea typeface="Gilroy"/>
                <a:cs typeface="Gilroy"/>
                <a:sym typeface="Gilroy"/>
              </a:rPr>
              <a:t>Diario</a:t>
            </a:r>
            <a:r>
              <a:rPr lang="en-US" sz="3971" dirty="0">
                <a:latin typeface="Gilroy"/>
                <a:ea typeface="Gilroy"/>
                <a:cs typeface="Gilroy"/>
                <a:sym typeface="Gilroy"/>
              </a:rPr>
              <a:t>.</a:t>
            </a:r>
          </a:p>
          <a:p>
            <a:pPr marL="742950" indent="-742950">
              <a:lnSpc>
                <a:spcPts val="5559"/>
              </a:lnSpc>
              <a:buFont typeface="+mj-lt"/>
              <a:buAutoNum type="arabicPeriod"/>
            </a:pPr>
            <a:r>
              <a:rPr lang="en-US" sz="3971" dirty="0" err="1">
                <a:latin typeface="Gilroy"/>
                <a:ea typeface="Gilroy"/>
                <a:cs typeface="Gilroy"/>
                <a:sym typeface="Gilroy"/>
              </a:rPr>
              <a:t>Reporte</a:t>
            </a:r>
            <a:r>
              <a:rPr lang="en-US" sz="3971" dirty="0">
                <a:latin typeface="Gilroy"/>
                <a:ea typeface="Gilroy"/>
                <a:cs typeface="Gilroy"/>
                <a:sym typeface="Gilroy"/>
              </a:rPr>
              <a:t> por </a:t>
            </a:r>
            <a:r>
              <a:rPr lang="en-US" sz="3971" dirty="0" err="1">
                <a:latin typeface="Gilroy"/>
                <a:ea typeface="Gilroy"/>
                <a:cs typeface="Gilroy"/>
                <a:sym typeface="Gilroy"/>
              </a:rPr>
              <a:t>Mircorregión</a:t>
            </a:r>
            <a:r>
              <a:rPr lang="en-US" sz="3971" dirty="0">
                <a:latin typeface="Gilroy"/>
                <a:ea typeface="Gilroy"/>
                <a:cs typeface="Gilroy"/>
                <a:sym typeface="Gilroy"/>
              </a:rPr>
              <a:t>.</a:t>
            </a:r>
          </a:p>
          <a:p>
            <a:pPr marL="742950" indent="-742950">
              <a:lnSpc>
                <a:spcPts val="5559"/>
              </a:lnSpc>
              <a:buFont typeface="+mj-lt"/>
              <a:buAutoNum type="arabicPeriod"/>
            </a:pPr>
            <a:r>
              <a:rPr lang="en-US" sz="3971" dirty="0" err="1">
                <a:latin typeface="Gilroy"/>
                <a:ea typeface="Gilroy"/>
                <a:cs typeface="Gilroy"/>
                <a:sym typeface="Gilroy"/>
              </a:rPr>
              <a:t>Reportes</a:t>
            </a:r>
            <a:r>
              <a:rPr lang="en-US" sz="3971" dirty="0"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3971" dirty="0" err="1">
                <a:latin typeface="Gilroy"/>
                <a:ea typeface="Gilroy"/>
                <a:cs typeface="Gilroy"/>
                <a:sym typeface="Gilroy"/>
              </a:rPr>
              <a:t>Diarios</a:t>
            </a:r>
            <a:r>
              <a:rPr lang="en-US" sz="3971" dirty="0">
                <a:latin typeface="Gilroy"/>
                <a:ea typeface="Gilroy"/>
                <a:cs typeface="Gilroy"/>
                <a:sym typeface="Gilroy"/>
              </a:rPr>
              <a:t> por </a:t>
            </a:r>
            <a:r>
              <a:rPr lang="en-US" sz="3971" dirty="0" err="1">
                <a:latin typeface="Gilroy"/>
                <a:ea typeface="Gilroy"/>
                <a:cs typeface="Gilroy"/>
                <a:sym typeface="Gilroy"/>
              </a:rPr>
              <a:t>Microrregión</a:t>
            </a:r>
            <a:r>
              <a:rPr lang="en-US" sz="3971" dirty="0">
                <a:latin typeface="Gilroy"/>
                <a:ea typeface="Gilroy"/>
                <a:cs typeface="Gilroy"/>
                <a:sym typeface="Gilro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486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200" y="3025"/>
            <a:ext cx="13715999" cy="10283975"/>
            <a:chOff x="0" y="0"/>
            <a:chExt cx="17750118" cy="13711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50118" cy="13711966"/>
            </a:xfrm>
            <a:custGeom>
              <a:avLst/>
              <a:gdLst/>
              <a:ahLst/>
              <a:cxnLst/>
              <a:rect l="l" t="t" r="r" b="b"/>
              <a:pathLst>
                <a:path w="17750118" h="13711966">
                  <a:moveTo>
                    <a:pt x="0" y="0"/>
                  </a:moveTo>
                  <a:lnTo>
                    <a:pt x="17750118" y="0"/>
                  </a:lnTo>
                  <a:lnTo>
                    <a:pt x="17750118" y="13711966"/>
                  </a:lnTo>
                  <a:lnTo>
                    <a:pt x="0" y="1371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77253" y="616144"/>
              <a:ext cx="9313341" cy="985065"/>
            </a:xfrm>
            <a:custGeom>
              <a:avLst/>
              <a:gdLst/>
              <a:ahLst/>
              <a:cxnLst/>
              <a:rect l="l" t="t" r="r" b="b"/>
              <a:pathLst>
                <a:path w="9313341" h="985065">
                  <a:moveTo>
                    <a:pt x="0" y="0"/>
                  </a:moveTo>
                  <a:lnTo>
                    <a:pt x="9313342" y="0"/>
                  </a:lnTo>
                  <a:lnTo>
                    <a:pt x="9313342" y="985065"/>
                  </a:lnTo>
                  <a:lnTo>
                    <a:pt x="0" y="985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77253" y="13401347"/>
              <a:ext cx="16168531" cy="310619"/>
            </a:xfrm>
            <a:custGeom>
              <a:avLst/>
              <a:gdLst/>
              <a:ahLst/>
              <a:cxnLst/>
              <a:rect l="l" t="t" r="r" b="b"/>
              <a:pathLst>
                <a:path w="16168531" h="310619">
                  <a:moveTo>
                    <a:pt x="0" y="0"/>
                  </a:moveTo>
                  <a:lnTo>
                    <a:pt x="16168531" y="0"/>
                  </a:lnTo>
                  <a:lnTo>
                    <a:pt x="16168531" y="310619"/>
                  </a:lnTo>
                  <a:lnTo>
                    <a:pt x="0" y="31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7" name="TextBox 3">
            <a:extLst>
              <a:ext uri="{FF2B5EF4-FFF2-40B4-BE49-F238E27FC236}">
                <a16:creationId xmlns:a16="http://schemas.microsoft.com/office/drawing/2014/main" id="{DB6A8119-BC10-4878-841C-E446DD6DF07E}"/>
              </a:ext>
            </a:extLst>
          </p:cNvPr>
          <p:cNvSpPr txBox="1"/>
          <p:nvPr/>
        </p:nvSpPr>
        <p:spPr>
          <a:xfrm>
            <a:off x="824652" y="1414738"/>
            <a:ext cx="4906959" cy="1055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64"/>
              </a:lnSpc>
              <a:spcBef>
                <a:spcPct val="0"/>
              </a:spcBef>
            </a:pPr>
            <a:r>
              <a:rPr lang="en-US" sz="4800" b="1" dirty="0" err="1">
                <a:latin typeface="Gilroy Bold"/>
                <a:ea typeface="Gilroy Bold"/>
                <a:cs typeface="Gilroy Bold"/>
                <a:sym typeface="Gilroy Bold"/>
              </a:rPr>
              <a:t>Reporte</a:t>
            </a:r>
            <a:r>
              <a:rPr lang="en-US" sz="4800" b="1" dirty="0">
                <a:latin typeface="Gilroy Bold"/>
                <a:ea typeface="Gilroy Bold"/>
                <a:cs typeface="Gilroy Bold"/>
                <a:sym typeface="Gilroy Bold"/>
              </a:rPr>
              <a:t> General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0957767-D37B-4C63-90C8-BBA01ACAF7F0}"/>
              </a:ext>
            </a:extLst>
          </p:cNvPr>
          <p:cNvSpPr txBox="1"/>
          <p:nvPr/>
        </p:nvSpPr>
        <p:spPr>
          <a:xfrm>
            <a:off x="3278132" y="3376740"/>
            <a:ext cx="3450619" cy="627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9"/>
              </a:lnSpc>
            </a:pPr>
            <a:r>
              <a:rPr lang="en-US" sz="2800" dirty="0">
                <a:latin typeface="Gilroy" panose="020B0604020202020204" charset="0"/>
                <a:ea typeface="Gilroy"/>
                <a:cs typeface="Gilroy"/>
                <a:sym typeface="Gilroy"/>
              </a:rPr>
              <a:t>Mesas de </a:t>
            </a:r>
            <a:r>
              <a:rPr lang="en-US" sz="2800" dirty="0" err="1">
                <a:latin typeface="Gilroy" panose="020B0604020202020204" charset="0"/>
                <a:ea typeface="Gilroy"/>
                <a:cs typeface="Gilroy"/>
                <a:sym typeface="Gilroy"/>
              </a:rPr>
              <a:t>seguridad</a:t>
            </a:r>
            <a:endParaRPr lang="en-US" sz="2800" dirty="0">
              <a:latin typeface="Gilroy" panose="020B0604020202020204" charset="0"/>
              <a:ea typeface="Gilroy"/>
              <a:cs typeface="Gilroy"/>
              <a:sym typeface="Gilroy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96FB21E9-5811-40C0-8235-73AD799DA764}"/>
              </a:ext>
            </a:extLst>
          </p:cNvPr>
          <p:cNvSpPr txBox="1"/>
          <p:nvPr/>
        </p:nvSpPr>
        <p:spPr>
          <a:xfrm>
            <a:off x="1619450" y="5101700"/>
            <a:ext cx="2107662" cy="627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9"/>
              </a:lnSpc>
            </a:pPr>
            <a:r>
              <a:rPr lang="en-US" sz="2800" dirty="0" err="1">
                <a:latin typeface="Gilroy" panose="020B0604020202020204" charset="0"/>
                <a:ea typeface="Gilroy"/>
                <a:cs typeface="Gilroy"/>
                <a:sym typeface="Gilroy"/>
              </a:rPr>
              <a:t>Asistencias</a:t>
            </a:r>
            <a:endParaRPr lang="en-US" sz="2800" dirty="0">
              <a:latin typeface="Gilroy" panose="020B0604020202020204" charset="0"/>
              <a:ea typeface="Gilroy"/>
              <a:cs typeface="Gilroy"/>
              <a:sym typeface="Gilroy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46697F84-209C-49B1-914F-7BEE7C90CC4C}"/>
              </a:ext>
            </a:extLst>
          </p:cNvPr>
          <p:cNvSpPr txBox="1"/>
          <p:nvPr/>
        </p:nvSpPr>
        <p:spPr>
          <a:xfrm>
            <a:off x="3727112" y="6804684"/>
            <a:ext cx="2340581" cy="627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9"/>
              </a:lnSpc>
            </a:pPr>
            <a:r>
              <a:rPr lang="en-US" sz="2800" dirty="0" err="1">
                <a:latin typeface="Gilroy" panose="020B0604020202020204" charset="0"/>
                <a:ea typeface="Gilroy"/>
                <a:cs typeface="Gilroy"/>
                <a:sym typeface="Gilroy"/>
              </a:rPr>
              <a:t>Inasistencias</a:t>
            </a:r>
            <a:endParaRPr lang="en-US" sz="2800" dirty="0">
              <a:latin typeface="Gilroy" panose="020B0604020202020204" charset="0"/>
              <a:ea typeface="Gilroy"/>
              <a:cs typeface="Gilroy"/>
              <a:sym typeface="Gilroy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780C7D75-8A2B-4191-A7A3-CF5E7B6F2B87}"/>
              </a:ext>
            </a:extLst>
          </p:cNvPr>
          <p:cNvSpPr txBox="1"/>
          <p:nvPr/>
        </p:nvSpPr>
        <p:spPr>
          <a:xfrm>
            <a:off x="7934695" y="7622725"/>
            <a:ext cx="4699523" cy="627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9"/>
              </a:lnSpc>
            </a:pPr>
            <a:r>
              <a:rPr lang="en-US" sz="2800" dirty="0">
                <a:latin typeface="Gilroy"/>
                <a:ea typeface="Gilroy"/>
                <a:cs typeface="Gilroy"/>
                <a:sym typeface="Gilroy"/>
              </a:rPr>
              <a:t>47.60% de </a:t>
            </a:r>
            <a:r>
              <a:rPr lang="en-US" sz="2800" dirty="0" err="1">
                <a:latin typeface="Gilroy"/>
                <a:ea typeface="Gilroy"/>
                <a:cs typeface="Gilroy"/>
                <a:sym typeface="Gilroy"/>
              </a:rPr>
              <a:t>cumplimiento</a:t>
            </a:r>
            <a:endParaRPr lang="en-US" sz="2800" dirty="0">
              <a:latin typeface="Gilroy"/>
              <a:ea typeface="Gilroy"/>
              <a:cs typeface="Gilroy"/>
              <a:sym typeface="Gilroy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0C08695E-35D2-4395-AF9D-9B144F4578E9}"/>
              </a:ext>
            </a:extLst>
          </p:cNvPr>
          <p:cNvSpPr txBox="1"/>
          <p:nvPr/>
        </p:nvSpPr>
        <p:spPr>
          <a:xfrm>
            <a:off x="914400" y="3150905"/>
            <a:ext cx="2155286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64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CFAB7E"/>
                </a:solidFill>
                <a:latin typeface="Gilroy Bold"/>
                <a:ea typeface="Gilroy Bold"/>
                <a:cs typeface="Gilroy Bold"/>
                <a:sym typeface="Gilroy Bold"/>
              </a:rPr>
              <a:t>1029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E9B59A0-A71B-46C7-AE70-6528C926EA04}"/>
              </a:ext>
            </a:extLst>
          </p:cNvPr>
          <p:cNvSpPr txBox="1"/>
          <p:nvPr/>
        </p:nvSpPr>
        <p:spPr>
          <a:xfrm>
            <a:off x="3727112" y="4808263"/>
            <a:ext cx="1893793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64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0D312D"/>
                </a:solidFill>
                <a:latin typeface="Gilroy Bold"/>
                <a:ea typeface="Gilroy Bold"/>
                <a:cs typeface="Gilroy Bold"/>
                <a:sym typeface="Gilroy Bold"/>
              </a:rPr>
              <a:t>517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00C803A2-83EF-465E-8771-DE60231D0F81}"/>
              </a:ext>
            </a:extLst>
          </p:cNvPr>
          <p:cNvSpPr txBox="1"/>
          <p:nvPr/>
        </p:nvSpPr>
        <p:spPr>
          <a:xfrm>
            <a:off x="1726384" y="6487597"/>
            <a:ext cx="1893793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64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841E38"/>
                </a:solidFill>
                <a:latin typeface="Gilroy Bold"/>
                <a:ea typeface="Gilroy Bold"/>
                <a:cs typeface="Gilroy Bold"/>
                <a:sym typeface="Gilroy Bold"/>
              </a:rPr>
              <a:t>568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D2D1E8A-3330-4290-A36A-897BDFA341CD}"/>
              </a:ext>
            </a:extLst>
          </p:cNvPr>
          <p:cNvSpPr/>
          <p:nvPr/>
        </p:nvSpPr>
        <p:spPr>
          <a:xfrm>
            <a:off x="7524507" y="2910974"/>
            <a:ext cx="4572043" cy="4274623"/>
          </a:xfrm>
          <a:prstGeom prst="ellipse">
            <a:avLst/>
          </a:prstGeom>
          <a:solidFill>
            <a:srgbClr val="0D312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B858F9DE-310A-484F-8759-FADD5C0F8500}"/>
              </a:ext>
            </a:extLst>
          </p:cNvPr>
          <p:cNvSpPr txBox="1"/>
          <p:nvPr/>
        </p:nvSpPr>
        <p:spPr>
          <a:xfrm>
            <a:off x="7088214" y="1811891"/>
            <a:ext cx="5444627" cy="627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9"/>
              </a:lnSpc>
            </a:pPr>
            <a:r>
              <a:rPr lang="en-US" sz="2800" dirty="0" err="1">
                <a:latin typeface="Gilroy"/>
                <a:ea typeface="Gilroy"/>
                <a:cs typeface="Gilroy"/>
                <a:sym typeface="Gilroy"/>
              </a:rPr>
              <a:t>Semana</a:t>
            </a:r>
            <a:r>
              <a:rPr lang="en-US" sz="2800" dirty="0">
                <a:latin typeface="Gilroy"/>
                <a:ea typeface="Gilroy"/>
                <a:cs typeface="Gilroy"/>
                <a:sym typeface="Gilroy"/>
              </a:rPr>
              <a:t> 1 al 6 de </a:t>
            </a:r>
            <a:r>
              <a:rPr lang="en-US" sz="2800" dirty="0" err="1">
                <a:latin typeface="Gilroy"/>
                <a:ea typeface="Gilroy"/>
                <a:cs typeface="Gilroy"/>
                <a:sym typeface="Gilroy"/>
              </a:rPr>
              <a:t>febrero</a:t>
            </a:r>
            <a:r>
              <a:rPr lang="en-US" sz="2800" dirty="0">
                <a:latin typeface="Gilroy"/>
                <a:ea typeface="Gilroy"/>
                <a:cs typeface="Gilroy"/>
                <a:sym typeface="Gilroy"/>
              </a:rPr>
              <a:t> de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"/>
            <a:ext cx="13716000" cy="10283975"/>
            <a:chOff x="0" y="0"/>
            <a:chExt cx="17750118" cy="13711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50118" cy="13711966"/>
            </a:xfrm>
            <a:custGeom>
              <a:avLst/>
              <a:gdLst/>
              <a:ahLst/>
              <a:cxnLst/>
              <a:rect l="l" t="t" r="r" b="b"/>
              <a:pathLst>
                <a:path w="17750118" h="13711966">
                  <a:moveTo>
                    <a:pt x="0" y="0"/>
                  </a:moveTo>
                  <a:lnTo>
                    <a:pt x="17750118" y="0"/>
                  </a:lnTo>
                  <a:lnTo>
                    <a:pt x="17750118" y="13711966"/>
                  </a:lnTo>
                  <a:lnTo>
                    <a:pt x="0" y="1371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77253" y="616144"/>
              <a:ext cx="9313341" cy="985065"/>
            </a:xfrm>
            <a:custGeom>
              <a:avLst/>
              <a:gdLst/>
              <a:ahLst/>
              <a:cxnLst/>
              <a:rect l="l" t="t" r="r" b="b"/>
              <a:pathLst>
                <a:path w="9313341" h="985065">
                  <a:moveTo>
                    <a:pt x="0" y="0"/>
                  </a:moveTo>
                  <a:lnTo>
                    <a:pt x="9313342" y="0"/>
                  </a:lnTo>
                  <a:lnTo>
                    <a:pt x="9313342" y="985065"/>
                  </a:lnTo>
                  <a:lnTo>
                    <a:pt x="0" y="985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77253" y="13401347"/>
              <a:ext cx="16168531" cy="310619"/>
            </a:xfrm>
            <a:custGeom>
              <a:avLst/>
              <a:gdLst/>
              <a:ahLst/>
              <a:cxnLst/>
              <a:rect l="l" t="t" r="r" b="b"/>
              <a:pathLst>
                <a:path w="16168531" h="310619">
                  <a:moveTo>
                    <a:pt x="0" y="0"/>
                  </a:moveTo>
                  <a:lnTo>
                    <a:pt x="16168531" y="0"/>
                  </a:lnTo>
                  <a:lnTo>
                    <a:pt x="16168531" y="310619"/>
                  </a:lnTo>
                  <a:lnTo>
                    <a:pt x="0" y="31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C59E47A-7670-4641-B491-F82E5B07D4BE}"/>
              </a:ext>
            </a:extLst>
          </p:cNvPr>
          <p:cNvSpPr txBox="1"/>
          <p:nvPr/>
        </p:nvSpPr>
        <p:spPr>
          <a:xfrm>
            <a:off x="1076324" y="3061508"/>
            <a:ext cx="10302195" cy="1309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93"/>
              </a:lnSpc>
            </a:pP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Lorem ipsum dolor sit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amet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,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consectetur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adipiscing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elit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, sed do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eiusmod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tempor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incididunt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ut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labore et dolore magna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aliqua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. Ut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enim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ad minim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veniam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,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quis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nostrud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exercitation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ullamco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laboris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nisi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ut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aliquip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ex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ea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commodo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consequat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. Duis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aute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irure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dolor in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reprehenderit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in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voluptate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velit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esse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 </a:t>
            </a:r>
            <a:r>
              <a:rPr lang="en-US" sz="1852" dirty="0" err="1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cillum</a:t>
            </a:r>
            <a:r>
              <a:rPr lang="en-US" sz="1852" dirty="0">
                <a:solidFill>
                  <a:srgbClr val="000000"/>
                </a:solidFill>
                <a:latin typeface="Gilroy"/>
                <a:ea typeface="Gilroy"/>
                <a:cs typeface="Gilroy"/>
                <a:sym typeface="Gilroy"/>
              </a:rPr>
              <a:t>.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6028366B-0CF7-476F-9611-54EEE130F622}"/>
              </a:ext>
            </a:extLst>
          </p:cNvPr>
          <p:cNvSpPr txBox="1"/>
          <p:nvPr/>
        </p:nvSpPr>
        <p:spPr>
          <a:xfrm>
            <a:off x="1085001" y="1866900"/>
            <a:ext cx="5142421" cy="66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59"/>
              </a:lnSpc>
            </a:pPr>
            <a:r>
              <a:rPr lang="en-US" sz="3971" dirty="0">
                <a:solidFill>
                  <a:srgbClr val="7D2B39"/>
                </a:solidFill>
                <a:latin typeface="Gilroy"/>
                <a:ea typeface="Gilroy"/>
                <a:cs typeface="Gilroy"/>
                <a:sym typeface="Gilroy"/>
              </a:rPr>
              <a:t>Lorem ipsum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"/>
            <a:ext cx="13715999" cy="10283975"/>
          </a:xfrm>
          <a:custGeom>
            <a:avLst/>
            <a:gdLst/>
            <a:ahLst/>
            <a:cxnLst/>
            <a:rect l="l" t="t" r="r" b="b"/>
            <a:pathLst>
              <a:path w="13312588" h="10283974">
                <a:moveTo>
                  <a:pt x="0" y="0"/>
                </a:moveTo>
                <a:lnTo>
                  <a:pt x="13312588" y="0"/>
                </a:lnTo>
                <a:lnTo>
                  <a:pt x="13312588" y="10283974"/>
                </a:lnTo>
                <a:lnTo>
                  <a:pt x="0" y="10283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30407" y="3807209"/>
            <a:ext cx="11255188" cy="230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264"/>
              </a:lnSpc>
              <a:spcBef>
                <a:spcPct val="0"/>
              </a:spcBef>
            </a:pPr>
            <a:r>
              <a:rPr lang="en-US" sz="6617" b="1" dirty="0">
                <a:solidFill>
                  <a:srgbClr val="4B4B4B"/>
                </a:solidFill>
                <a:latin typeface="Gilroy Bold"/>
                <a:ea typeface="Gilroy Bold"/>
                <a:cs typeface="Gilroy Bold"/>
                <a:sym typeface="Gilroy Bold"/>
              </a:rPr>
              <a:t>LOREM IPSUM DOLOR SIT AMET CONSECTETUR</a:t>
            </a:r>
          </a:p>
        </p:txBody>
      </p:sp>
      <p:sp>
        <p:nvSpPr>
          <p:cNvPr id="4" name="Freeform 4"/>
          <p:cNvSpPr/>
          <p:nvPr/>
        </p:nvSpPr>
        <p:spPr>
          <a:xfrm>
            <a:off x="747524" y="477342"/>
            <a:ext cx="6985007" cy="738799"/>
          </a:xfrm>
          <a:custGeom>
            <a:avLst/>
            <a:gdLst/>
            <a:ahLst/>
            <a:cxnLst/>
            <a:rect l="l" t="t" r="r" b="b"/>
            <a:pathLst>
              <a:path w="6985006" h="738799">
                <a:moveTo>
                  <a:pt x="0" y="0"/>
                </a:moveTo>
                <a:lnTo>
                  <a:pt x="6985006" y="0"/>
                </a:lnTo>
                <a:lnTo>
                  <a:pt x="6985006" y="738798"/>
                </a:lnTo>
                <a:lnTo>
                  <a:pt x="0" y="738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30408" y="3157309"/>
            <a:ext cx="5142421" cy="66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59"/>
              </a:lnSpc>
            </a:pPr>
            <a:r>
              <a:rPr lang="en-US" sz="3971" dirty="0">
                <a:solidFill>
                  <a:srgbClr val="7D2B39"/>
                </a:solidFill>
                <a:latin typeface="Gilroy"/>
                <a:ea typeface="Gilroy"/>
                <a:cs typeface="Gilroy"/>
                <a:sym typeface="Gilroy"/>
              </a:rPr>
              <a:t>Lorem ipsum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68701" y="9426304"/>
            <a:ext cx="4723075" cy="39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35"/>
              </a:lnSpc>
              <a:spcBef>
                <a:spcPct val="0"/>
              </a:spcBef>
            </a:pPr>
            <a:r>
              <a:rPr lang="en-US" sz="2381">
                <a:solidFill>
                  <a:srgbClr val="4B4B4B"/>
                </a:solidFill>
                <a:latin typeface="Gilroy"/>
                <a:ea typeface="Gilroy"/>
                <a:cs typeface="Gilroy"/>
                <a:sym typeface="Gilroy"/>
              </a:rPr>
              <a:t>30 de Febrero del 2026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7523" y="9670731"/>
            <a:ext cx="7468012" cy="143471"/>
            <a:chOff x="0" y="0"/>
            <a:chExt cx="9957349" cy="1912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57349" cy="191294"/>
            </a:xfrm>
            <a:custGeom>
              <a:avLst/>
              <a:gdLst/>
              <a:ahLst/>
              <a:cxnLst/>
              <a:rect l="l" t="t" r="r" b="b"/>
              <a:pathLst>
                <a:path w="9957349" h="191294">
                  <a:moveTo>
                    <a:pt x="0" y="0"/>
                  </a:moveTo>
                  <a:lnTo>
                    <a:pt x="9957349" y="0"/>
                  </a:lnTo>
                  <a:lnTo>
                    <a:pt x="9957349" y="191294"/>
                  </a:lnTo>
                  <a:lnTo>
                    <a:pt x="0" y="19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9957349" cy="191294"/>
            </a:xfrm>
            <a:custGeom>
              <a:avLst/>
              <a:gdLst/>
              <a:ahLst/>
              <a:cxnLst/>
              <a:rect l="l" t="t" r="r" b="b"/>
              <a:pathLst>
                <a:path w="9957349" h="191294">
                  <a:moveTo>
                    <a:pt x="0" y="0"/>
                  </a:moveTo>
                  <a:lnTo>
                    <a:pt x="9957349" y="0"/>
                  </a:lnTo>
                  <a:lnTo>
                    <a:pt x="9957349" y="191294"/>
                  </a:lnTo>
                  <a:lnTo>
                    <a:pt x="0" y="19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"/>
            <a:ext cx="13716000" cy="10283975"/>
            <a:chOff x="0" y="0"/>
            <a:chExt cx="17750118" cy="13711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50118" cy="13711966"/>
            </a:xfrm>
            <a:custGeom>
              <a:avLst/>
              <a:gdLst/>
              <a:ahLst/>
              <a:cxnLst/>
              <a:rect l="l" t="t" r="r" b="b"/>
              <a:pathLst>
                <a:path w="17750118" h="13711966">
                  <a:moveTo>
                    <a:pt x="0" y="0"/>
                  </a:moveTo>
                  <a:lnTo>
                    <a:pt x="17750118" y="0"/>
                  </a:lnTo>
                  <a:lnTo>
                    <a:pt x="17750118" y="13711966"/>
                  </a:lnTo>
                  <a:lnTo>
                    <a:pt x="0" y="1371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77253" y="616144"/>
              <a:ext cx="9313341" cy="985065"/>
            </a:xfrm>
            <a:custGeom>
              <a:avLst/>
              <a:gdLst/>
              <a:ahLst/>
              <a:cxnLst/>
              <a:rect l="l" t="t" r="r" b="b"/>
              <a:pathLst>
                <a:path w="9313341" h="985065">
                  <a:moveTo>
                    <a:pt x="0" y="0"/>
                  </a:moveTo>
                  <a:lnTo>
                    <a:pt x="9313342" y="0"/>
                  </a:lnTo>
                  <a:lnTo>
                    <a:pt x="9313342" y="985065"/>
                  </a:lnTo>
                  <a:lnTo>
                    <a:pt x="0" y="985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77253" y="13401347"/>
              <a:ext cx="16168531" cy="310619"/>
            </a:xfrm>
            <a:custGeom>
              <a:avLst/>
              <a:gdLst/>
              <a:ahLst/>
              <a:cxnLst/>
              <a:rect l="l" t="t" r="r" b="b"/>
              <a:pathLst>
                <a:path w="16168531" h="310619">
                  <a:moveTo>
                    <a:pt x="0" y="0"/>
                  </a:moveTo>
                  <a:lnTo>
                    <a:pt x="16168531" y="0"/>
                  </a:lnTo>
                  <a:lnTo>
                    <a:pt x="16168531" y="310619"/>
                  </a:lnTo>
                  <a:lnTo>
                    <a:pt x="0" y="310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0"/>
            <a:ext cx="13716000" cy="10287000"/>
          </a:xfrm>
          <a:custGeom>
            <a:avLst/>
            <a:gdLst/>
            <a:ahLst/>
            <a:cxnLst/>
            <a:rect l="l" t="t" r="r" b="b"/>
            <a:pathLst>
              <a:path w="13316505" h="10287000">
                <a:moveTo>
                  <a:pt x="0" y="0"/>
                </a:moveTo>
                <a:lnTo>
                  <a:pt x="13316505" y="0"/>
                </a:lnTo>
                <a:lnTo>
                  <a:pt x="133165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7524" y="411818"/>
            <a:ext cx="6985007" cy="869843"/>
          </a:xfrm>
          <a:custGeom>
            <a:avLst/>
            <a:gdLst/>
            <a:ahLst/>
            <a:cxnLst/>
            <a:rect l="l" t="t" r="r" b="b"/>
            <a:pathLst>
              <a:path w="6985006" h="869843">
                <a:moveTo>
                  <a:pt x="0" y="0"/>
                </a:moveTo>
                <a:lnTo>
                  <a:pt x="6985006" y="0"/>
                </a:lnTo>
                <a:lnTo>
                  <a:pt x="6985006" y="869844"/>
                </a:lnTo>
                <a:lnTo>
                  <a:pt x="0" y="869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7523" y="9586623"/>
            <a:ext cx="7468012" cy="168216"/>
          </a:xfrm>
          <a:custGeom>
            <a:avLst/>
            <a:gdLst/>
            <a:ahLst/>
            <a:cxnLst/>
            <a:rect l="l" t="t" r="r" b="b"/>
            <a:pathLst>
              <a:path w="7468012" h="168216">
                <a:moveTo>
                  <a:pt x="0" y="0"/>
                </a:moveTo>
                <a:lnTo>
                  <a:pt x="7468012" y="0"/>
                </a:lnTo>
                <a:lnTo>
                  <a:pt x="7468012" y="168216"/>
                </a:lnTo>
                <a:lnTo>
                  <a:pt x="0" y="168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30407" y="3807209"/>
            <a:ext cx="11255188" cy="230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264"/>
              </a:lnSpc>
              <a:spcBef>
                <a:spcPct val="0"/>
              </a:spcBef>
            </a:pPr>
            <a:r>
              <a:rPr lang="en-US" sz="6617" b="1" dirty="0">
                <a:solidFill>
                  <a:srgbClr val="FFFFFF"/>
                </a:solidFill>
                <a:latin typeface="Gilroy Bold"/>
                <a:ea typeface="Gilroy Bold"/>
                <a:cs typeface="Gilroy Bold"/>
                <a:sym typeface="Gilroy Bold"/>
              </a:rPr>
              <a:t>LOREM IPSUM DOLOR SIT AMET CONSECTETUR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0408" y="3157309"/>
            <a:ext cx="5142421" cy="66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59"/>
              </a:lnSpc>
            </a:pPr>
            <a:r>
              <a:rPr lang="en-US" sz="3971">
                <a:solidFill>
                  <a:srgbClr val="C79C67"/>
                </a:solidFill>
                <a:latin typeface="Gilroy"/>
                <a:ea typeface="Gilroy"/>
                <a:cs typeface="Gilroy"/>
                <a:sym typeface="Gilroy"/>
              </a:rPr>
              <a:t>Lorem ipsum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83090" y="9426304"/>
            <a:ext cx="4708687" cy="39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35"/>
              </a:lnSpc>
              <a:spcBef>
                <a:spcPct val="0"/>
              </a:spcBef>
            </a:pPr>
            <a:r>
              <a:rPr lang="en-US" sz="2381">
                <a:solidFill>
                  <a:srgbClr val="FFFFFF"/>
                </a:solidFill>
                <a:latin typeface="Gilroy"/>
                <a:ea typeface="Gilroy"/>
                <a:cs typeface="Gilroy"/>
                <a:sym typeface="Gilroy"/>
              </a:rPr>
              <a:t>30 de Febrero del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141</Words>
  <Application>Microsoft Office PowerPoint</Application>
  <PresentationFormat>Personalizado</PresentationFormat>
  <Paragraphs>27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Gilroy</vt:lpstr>
      <vt:lpstr>Gilroy Bold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Dgdg Mesas de paz</dc:title>
  <cp:lastModifiedBy>Kevin Astrid Roldan Cervantes</cp:lastModifiedBy>
  <cp:revision>16</cp:revision>
  <dcterms:created xsi:type="dcterms:W3CDTF">2006-08-16T00:00:00Z</dcterms:created>
  <dcterms:modified xsi:type="dcterms:W3CDTF">2026-03-06T22:33:58Z</dcterms:modified>
  <dc:identifier>DAHDHr-bAU4</dc:identifier>
</cp:coreProperties>
</file>