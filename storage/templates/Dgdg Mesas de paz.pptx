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62" r:id="rId3"/>
    <p:sldId id="258" r:id="rId4"/>
    <p:sldId id="265" r:id="rId5"/>
    <p:sldId id="257" r:id="rId6"/>
    <p:sldId id="263" r:id="rId7"/>
    <p:sldId id="266" r:id="rId8"/>
    <p:sldId id="267" r:id="rId9"/>
    <p:sldId id="268" r:id="rId10"/>
    <p:sldId id="269" r:id="rId11"/>
    <p:sldId id="270" r:id="rId12"/>
    <p:sldId id="271" r:id="rId13"/>
    <p:sldId id="272" r:id="rId14"/>
    <p:sldId id="273" r:id="rId15"/>
    <p:sldId id="274" r:id="rId16"/>
    <p:sldId id="275" r:id="rId17"/>
    <p:sldId id="276" r:id="rId18"/>
    <p:sldId id="277" r:id="rId19"/>
    <p:sldId id="278" r:id="rId20"/>
    <p:sldId id="279" r:id="rId21"/>
    <p:sldId id="281" r:id="rId22"/>
    <p:sldId id="280" r:id="rId23"/>
    <p:sldId id="282" r:id="rId24"/>
    <p:sldId id="283" r:id="rId25"/>
    <p:sldId id="284" r:id="rId26"/>
    <p:sldId id="285" r:id="rId27"/>
    <p:sldId id="286" r:id="rId28"/>
    <p:sldId id="287" r:id="rId29"/>
    <p:sldId id="288" r:id="rId30"/>
    <p:sldId id="289" r:id="rId31"/>
    <p:sldId id="290" r:id="rId32"/>
    <p:sldId id="291" r:id="rId33"/>
    <p:sldId id="292" r:id="rId34"/>
    <p:sldId id="293" r:id="rId35"/>
    <p:sldId id="294" r:id="rId36"/>
    <p:sldId id="295" r:id="rId37"/>
    <p:sldId id="260" r:id="rId38"/>
  </p:sldIdLst>
  <p:sldSz cx="13716000" cy="10287000"/>
  <p:notesSz cx="6858000" cy="9144000"/>
  <p:embeddedFontLst>
    <p:embeddedFont>
      <p:font typeface="Calibri" panose="020F0502020204030204" pitchFamily="34" charset="0"/>
      <p:regular r:id="rId39"/>
      <p:bold r:id="rId40"/>
      <p:italic r:id="rId41"/>
      <p:boldItalic r:id="rId42"/>
    </p:embeddedFont>
    <p:embeddedFont>
      <p:font typeface="Gilroy" panose="020B0604020202020204" charset="0"/>
      <p:regular r:id="rId43"/>
    </p:embeddedFont>
    <p:embeddedFont>
      <p:font typeface="Gilroy Bold" panose="020B0604020202020204" charset="0"/>
      <p:regular r:id="rId4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D312D"/>
    <a:srgbClr val="841E38"/>
    <a:srgbClr val="CFAB7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>
        <p:scale>
          <a:sx n="43" d="100"/>
          <a:sy n="43" d="100"/>
        </p:scale>
        <p:origin x="1124" y="68"/>
      </p:cViewPr>
      <p:guideLst>
        <p:guide orient="horz" pos="2160"/>
        <p:guide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1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4.fntdata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font" Target="fonts/font2.fntdata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5.fntdata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font" Target="fonts/font3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1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7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4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3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3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5" y="4406903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5" y="2906714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3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3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1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1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70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70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1" y="273050"/>
            <a:ext cx="2256235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8" y="273053"/>
            <a:ext cx="3833813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1" y="1435103"/>
            <a:ext cx="2256235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189" indent="0">
              <a:buNone/>
              <a:defRPr sz="1200"/>
            </a:lvl2pPr>
            <a:lvl3pPr marL="914377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189" indent="0">
              <a:buNone/>
              <a:defRPr sz="1200"/>
            </a:lvl2pPr>
            <a:lvl3pPr marL="914377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41"/>
            <a:ext cx="154305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41"/>
            <a:ext cx="451485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3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3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3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3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377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891" indent="-342891" algn="l" defTabSz="914377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32" indent="-285744" algn="l" defTabSz="914377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png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.png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jpeg"/><Relationship Id="rId4" Type="http://schemas.openxmlformats.org/officeDocument/2006/relationships/image" Target="../media/image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6.jpeg"/><Relationship Id="rId4" Type="http://schemas.openxmlformats.org/officeDocument/2006/relationships/image" Target="../media/image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jpeg"/><Relationship Id="rId4" Type="http://schemas.openxmlformats.org/officeDocument/2006/relationships/image" Target="../media/image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8.png"/><Relationship Id="rId4" Type="http://schemas.openxmlformats.org/officeDocument/2006/relationships/image" Target="../media/image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9.png"/><Relationship Id="rId4" Type="http://schemas.openxmlformats.org/officeDocument/2006/relationships/image" Target="../media/image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0.png"/><Relationship Id="rId4" Type="http://schemas.openxmlformats.org/officeDocument/2006/relationships/image" Target="../media/image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1.png"/><Relationship Id="rId4" Type="http://schemas.openxmlformats.org/officeDocument/2006/relationships/image" Target="../media/image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2.jpeg"/><Relationship Id="rId4" Type="http://schemas.openxmlformats.org/officeDocument/2006/relationships/image" Target="../media/image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3.jpeg"/><Relationship Id="rId4" Type="http://schemas.openxmlformats.org/officeDocument/2006/relationships/image" Target="../media/image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png"/><Relationship Id="rId4" Type="http://schemas.openxmlformats.org/officeDocument/2006/relationships/image" Target="../media/image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5.jpeg"/><Relationship Id="rId4" Type="http://schemas.openxmlformats.org/officeDocument/2006/relationships/image" Target="../media/image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6.jpeg"/><Relationship Id="rId4" Type="http://schemas.openxmlformats.org/officeDocument/2006/relationships/image" Target="../media/image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7.png"/><Relationship Id="rId4" Type="http://schemas.openxmlformats.org/officeDocument/2006/relationships/image" Target="../media/image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8.png"/><Relationship Id="rId4" Type="http://schemas.openxmlformats.org/officeDocument/2006/relationships/image" Target="../media/image6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9.png"/><Relationship Id="rId4" Type="http://schemas.openxmlformats.org/officeDocument/2006/relationships/image" Target="../media/image6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0.png"/><Relationship Id="rId4" Type="http://schemas.openxmlformats.org/officeDocument/2006/relationships/image" Target="../media/image6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1.png"/><Relationship Id="rId4" Type="http://schemas.openxmlformats.org/officeDocument/2006/relationships/image" Target="../media/image6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2.png"/><Relationship Id="rId4" Type="http://schemas.openxmlformats.org/officeDocument/2006/relationships/image" Target="../media/image6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3.png"/><Relationship Id="rId4" Type="http://schemas.openxmlformats.org/officeDocument/2006/relationships/image" Target="../media/image6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4.png"/><Relationship Id="rId4" Type="http://schemas.openxmlformats.org/officeDocument/2006/relationships/image" Target="../media/image6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5.png"/><Relationship Id="rId4" Type="http://schemas.openxmlformats.org/officeDocument/2006/relationships/image" Target="../media/image6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6.png"/><Relationship Id="rId4" Type="http://schemas.openxmlformats.org/officeDocument/2006/relationships/image" Target="../media/image6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7.png"/><Relationship Id="rId4" Type="http://schemas.openxmlformats.org/officeDocument/2006/relationships/image" Target="../media/image6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3715999" cy="10287000"/>
          </a:xfrm>
          <a:custGeom>
            <a:avLst/>
            <a:gdLst/>
            <a:ahLst/>
            <a:cxnLst/>
            <a:rect l="l" t="t" r="r" b="b"/>
            <a:pathLst>
              <a:path w="13312588" h="10287000">
                <a:moveTo>
                  <a:pt x="0" y="0"/>
                </a:moveTo>
                <a:lnTo>
                  <a:pt x="13312588" y="0"/>
                </a:lnTo>
                <a:lnTo>
                  <a:pt x="13312588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140" r="-1140" b="-2250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747524" y="411818"/>
            <a:ext cx="6985007" cy="869843"/>
          </a:xfrm>
          <a:custGeom>
            <a:avLst/>
            <a:gdLst/>
            <a:ahLst/>
            <a:cxnLst/>
            <a:rect l="l" t="t" r="r" b="b"/>
            <a:pathLst>
              <a:path w="6985006" h="869843">
                <a:moveTo>
                  <a:pt x="0" y="0"/>
                </a:moveTo>
                <a:lnTo>
                  <a:pt x="6985006" y="0"/>
                </a:lnTo>
                <a:lnTo>
                  <a:pt x="6985006" y="869844"/>
                </a:lnTo>
                <a:lnTo>
                  <a:pt x="0" y="86984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747523" y="9586623"/>
            <a:ext cx="7468012" cy="168216"/>
          </a:xfrm>
          <a:custGeom>
            <a:avLst/>
            <a:gdLst/>
            <a:ahLst/>
            <a:cxnLst/>
            <a:rect l="l" t="t" r="r" b="b"/>
            <a:pathLst>
              <a:path w="7468012" h="168216">
                <a:moveTo>
                  <a:pt x="0" y="0"/>
                </a:moveTo>
                <a:lnTo>
                  <a:pt x="7468012" y="0"/>
                </a:lnTo>
                <a:lnTo>
                  <a:pt x="7468012" y="168216"/>
                </a:lnTo>
                <a:lnTo>
                  <a:pt x="0" y="16821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1258983" y="4027489"/>
            <a:ext cx="11255188" cy="11160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9264"/>
              </a:lnSpc>
              <a:spcBef>
                <a:spcPct val="0"/>
              </a:spcBef>
            </a:pPr>
            <a:r>
              <a:rPr lang="en-US" sz="6617" b="1" dirty="0">
                <a:solidFill>
                  <a:srgbClr val="FFFFFF"/>
                </a:solidFill>
                <a:latin typeface="Gilroy Bold"/>
                <a:ea typeface="Gilroy Bold"/>
                <a:cs typeface="Gilroy Bold"/>
                <a:sym typeface="Gilroy Bold"/>
              </a:rPr>
              <a:t>MESAS DE PAZ Y SEGURIDAD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8983" y="3362435"/>
            <a:ext cx="9666192" cy="6650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3971" dirty="0">
                <a:solidFill>
                  <a:srgbClr val="C79C67"/>
                </a:solidFill>
                <a:latin typeface="Gilroy"/>
                <a:ea typeface="Gilroy"/>
                <a:cs typeface="Gilroy"/>
                <a:sym typeface="Gilroy"/>
              </a:rPr>
              <a:t>Fecha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383090" y="9426304"/>
            <a:ext cx="4708687" cy="3931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335"/>
              </a:lnSpc>
              <a:spcBef>
                <a:spcPct val="0"/>
              </a:spcBef>
            </a:pPr>
            <a:r>
              <a:rPr lang="en-US" sz="2381">
                <a:solidFill>
                  <a:srgbClr val="FFFFFF"/>
                </a:solidFill>
                <a:latin typeface="Gilroy"/>
                <a:ea typeface="Gilroy"/>
                <a:cs typeface="Gilroy"/>
                <a:sym typeface="Gilroy"/>
              </a:rPr>
              <a:t>30 de Febrero del 2026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697394" y="5278054"/>
            <a:ext cx="9068615" cy="13831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3971" dirty="0">
                <a:solidFill>
                  <a:srgbClr val="FFFFFF"/>
                </a:solidFill>
                <a:latin typeface="Gilroy"/>
                <a:ea typeface="Gilroy"/>
                <a:cs typeface="Gilroy"/>
                <a:sym typeface="Gilroy"/>
              </a:rPr>
              <a:t>Dirección General de Delegaciones de Gobierno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2"/>
            <a:ext cx="13715999" cy="10283975"/>
          </a:xfrm>
          <a:custGeom>
            <a:avLst/>
            <a:gdLst/>
            <a:ahLst/>
            <a:cxnLst/>
            <a:rect l="l" t="t" r="r" b="b"/>
            <a:pathLst>
              <a:path w="13312588" h="10283974">
                <a:moveTo>
                  <a:pt x="0" y="0"/>
                </a:moveTo>
                <a:lnTo>
                  <a:pt x="13312588" y="0"/>
                </a:lnTo>
                <a:lnTo>
                  <a:pt x="13312588" y="10283974"/>
                </a:lnTo>
                <a:lnTo>
                  <a:pt x="0" y="1028397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1001527" y="1703006"/>
            <a:ext cx="6477000" cy="10551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264"/>
              </a:lnSpc>
              <a:spcBef>
                <a:spcPct val="0"/>
              </a:spcBef>
            </a:pPr>
            <a:r>
              <a:rPr lang="en-US" sz="4400" b="1" dirty="0">
                <a:latin typeface="Gilroy Bold"/>
                <a:ea typeface="Gilroy Bold"/>
                <a:cs typeface="Gilroy Bold"/>
                <a:sym typeface="Gilroy Bold"/>
              </a:rPr>
              <a:t>ORDEN DEL DÍA</a:t>
            </a:r>
          </a:p>
        </p:txBody>
      </p:sp>
      <p:sp>
        <p:nvSpPr>
          <p:cNvPr id="4" name="Freeform 4"/>
          <p:cNvSpPr/>
          <p:nvPr/>
        </p:nvSpPr>
        <p:spPr>
          <a:xfrm>
            <a:off x="747524" y="477342"/>
            <a:ext cx="6985007" cy="738799"/>
          </a:xfrm>
          <a:custGeom>
            <a:avLst/>
            <a:gdLst/>
            <a:ahLst/>
            <a:cxnLst/>
            <a:rect l="l" t="t" r="r" b="b"/>
            <a:pathLst>
              <a:path w="6985006" h="738799">
                <a:moveTo>
                  <a:pt x="0" y="0"/>
                </a:moveTo>
                <a:lnTo>
                  <a:pt x="6985006" y="0"/>
                </a:lnTo>
                <a:lnTo>
                  <a:pt x="6985006" y="738798"/>
                </a:lnTo>
                <a:lnTo>
                  <a:pt x="0" y="73879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8368701" y="9426304"/>
            <a:ext cx="4723075" cy="3931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335"/>
              </a:lnSpc>
              <a:spcBef>
                <a:spcPct val="0"/>
              </a:spcBef>
            </a:pPr>
            <a:r>
              <a:rPr lang="en-US" sz="2381">
                <a:solidFill>
                  <a:srgbClr val="4B4B4B"/>
                </a:solidFill>
                <a:latin typeface="Gilroy"/>
                <a:ea typeface="Gilroy"/>
                <a:cs typeface="Gilroy"/>
                <a:sym typeface="Gilroy"/>
              </a:rPr>
              <a:t>30 de Febrero del 2026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747523" y="9670731"/>
            <a:ext cx="7468012" cy="143471"/>
            <a:chOff x="0" y="0"/>
            <a:chExt cx="9957349" cy="191294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9957349" cy="191294"/>
            </a:xfrm>
            <a:custGeom>
              <a:avLst/>
              <a:gdLst/>
              <a:ahLst/>
              <a:cxnLst/>
              <a:rect l="l" t="t" r="r" b="b"/>
              <a:pathLst>
                <a:path w="9957349" h="191294">
                  <a:moveTo>
                    <a:pt x="0" y="0"/>
                  </a:moveTo>
                  <a:lnTo>
                    <a:pt x="9957349" y="0"/>
                  </a:lnTo>
                  <a:lnTo>
                    <a:pt x="9957349" y="191294"/>
                  </a:lnTo>
                  <a:lnTo>
                    <a:pt x="0" y="1912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  <p:sp>
          <p:nvSpPr>
            <p:cNvPr id="9" name="Freeform 9"/>
            <p:cNvSpPr/>
            <p:nvPr/>
          </p:nvSpPr>
          <p:spPr>
            <a:xfrm>
              <a:off x="0" y="0"/>
              <a:ext cx="9957349" cy="191294"/>
            </a:xfrm>
            <a:custGeom>
              <a:avLst/>
              <a:gdLst/>
              <a:ahLst/>
              <a:cxnLst/>
              <a:rect l="l" t="t" r="r" b="b"/>
              <a:pathLst>
                <a:path w="9957349" h="191294">
                  <a:moveTo>
                    <a:pt x="0" y="0"/>
                  </a:moveTo>
                  <a:lnTo>
                    <a:pt x="9957349" y="0"/>
                  </a:lnTo>
                  <a:lnTo>
                    <a:pt x="9957349" y="191294"/>
                  </a:lnTo>
                  <a:lnTo>
                    <a:pt x="0" y="1912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0" name="TextBox 5">
            <a:extLst>
              <a:ext uri="{FF2B5EF4-FFF2-40B4-BE49-F238E27FC236}">
                <a16:creationId xmlns:a16="http://schemas.microsoft.com/office/drawing/2014/main" id="{889021D9-83F2-483B-8EA3-0C079360380B}"/>
              </a:ext>
            </a:extLst>
          </p:cNvPr>
          <p:cNvSpPr txBox="1"/>
          <p:nvPr/>
        </p:nvSpPr>
        <p:spPr>
          <a:xfrm>
            <a:off x="1719962" y="3543300"/>
            <a:ext cx="10276073" cy="281949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742950" indent="-742950">
              <a:lnSpc>
                <a:spcPts val="5559"/>
              </a:lnSpc>
              <a:buFont typeface="+mj-lt"/>
              <a:buAutoNum type="arabicPeriod"/>
            </a:pPr>
            <a:r>
              <a:rPr lang="en-US" sz="3971" dirty="0">
                <a:latin typeface="Gilroy"/>
                <a:ea typeface="Gilroy"/>
                <a:cs typeface="Gilroy"/>
                <a:sym typeface="Gilroy"/>
              </a:rPr>
              <a:t>Reporte General.</a:t>
            </a:r>
          </a:p>
          <a:p>
            <a:pPr marL="742950" indent="-742950">
              <a:lnSpc>
                <a:spcPts val="5559"/>
              </a:lnSpc>
              <a:buFont typeface="+mj-lt"/>
              <a:buAutoNum type="arabicPeriod"/>
            </a:pPr>
            <a:r>
              <a:rPr lang="en-US" sz="3971" dirty="0">
                <a:latin typeface="Gilroy"/>
                <a:ea typeface="Gilroy"/>
                <a:cs typeface="Gilroy"/>
                <a:sym typeface="Gilroy"/>
              </a:rPr>
              <a:t>Reporte Diario.</a:t>
            </a:r>
          </a:p>
          <a:p>
            <a:pPr marL="742950" indent="-742950">
              <a:lnSpc>
                <a:spcPts val="5559"/>
              </a:lnSpc>
              <a:buFont typeface="+mj-lt"/>
              <a:buAutoNum type="arabicPeriod"/>
            </a:pPr>
            <a:r>
              <a:rPr lang="en-US" sz="3971" dirty="0">
                <a:latin typeface="Gilroy"/>
                <a:ea typeface="Gilroy"/>
                <a:cs typeface="Gilroy"/>
                <a:sym typeface="Gilroy"/>
              </a:rPr>
              <a:t>Reporte por Mircorregión.</a:t>
            </a:r>
          </a:p>
          <a:p>
            <a:pPr marL="742950" indent="-742950">
              <a:lnSpc>
                <a:spcPts val="5559"/>
              </a:lnSpc>
              <a:buFont typeface="+mj-lt"/>
              <a:buAutoNum type="arabicPeriod"/>
            </a:pPr>
            <a:r>
              <a:rPr lang="en-US" sz="3971" dirty="0">
                <a:latin typeface="Gilroy"/>
                <a:ea typeface="Gilroy"/>
                <a:cs typeface="Gilroy"/>
                <a:sym typeface="Gilroy"/>
              </a:rPr>
              <a:t>Reportes Diarios por Microrregión.</a:t>
            </a:r>
          </a:p>
        </p:txBody>
      </p:sp>
    </p:spTree>
    <p:extLst>
      <p:ext uri="{BB962C8B-B14F-4D97-AF65-F5344CB8AC3E}">
        <p14:creationId xmlns:p14="http://schemas.microsoft.com/office/powerpoint/2010/main" val="31748682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76200" y="3025"/>
            <a:ext cx="13715999" cy="10283975"/>
            <a:chOff x="0" y="0"/>
            <a:chExt cx="17750118" cy="137119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750118" cy="13711966"/>
            </a:xfrm>
            <a:custGeom>
              <a:avLst/>
              <a:gdLst/>
              <a:ahLst/>
              <a:cxnLst/>
              <a:rect l="l" t="t" r="r" b="b"/>
              <a:pathLst>
                <a:path w="17750118" h="13711966">
                  <a:moveTo>
                    <a:pt x="0" y="0"/>
                  </a:moveTo>
                  <a:lnTo>
                    <a:pt x="17750118" y="0"/>
                  </a:lnTo>
                  <a:lnTo>
                    <a:pt x="17750118" y="13711966"/>
                  </a:lnTo>
                  <a:lnTo>
                    <a:pt x="0" y="13711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>
              <a:off x="777253" y="616144"/>
              <a:ext cx="9313341" cy="985065"/>
            </a:xfrm>
            <a:custGeom>
              <a:avLst/>
              <a:gdLst/>
              <a:ahLst/>
              <a:cxnLst/>
              <a:rect l="l" t="t" r="r" b="b"/>
              <a:pathLst>
                <a:path w="9313341" h="985065">
                  <a:moveTo>
                    <a:pt x="0" y="0"/>
                  </a:moveTo>
                  <a:lnTo>
                    <a:pt x="9313342" y="0"/>
                  </a:lnTo>
                  <a:lnTo>
                    <a:pt x="9313342" y="985065"/>
                  </a:lnTo>
                  <a:lnTo>
                    <a:pt x="0" y="9850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  <p:sp>
          <p:nvSpPr>
            <p:cNvPr id="5" name="Freeform 5"/>
            <p:cNvSpPr/>
            <p:nvPr/>
          </p:nvSpPr>
          <p:spPr>
            <a:xfrm>
              <a:off x="777253" y="13401347"/>
              <a:ext cx="16168531" cy="310619"/>
            </a:xfrm>
            <a:custGeom>
              <a:avLst/>
              <a:gdLst/>
              <a:ahLst/>
              <a:cxnLst/>
              <a:rect l="l" t="t" r="r" b="b"/>
              <a:pathLst>
                <a:path w="16168531" h="310619">
                  <a:moveTo>
                    <a:pt x="0" y="0"/>
                  </a:moveTo>
                  <a:lnTo>
                    <a:pt x="16168531" y="0"/>
                  </a:lnTo>
                  <a:lnTo>
                    <a:pt x="16168531" y="310619"/>
                  </a:lnTo>
                  <a:lnTo>
                    <a:pt x="0" y="310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7" name="TextBox 3">
            <a:extLst>
              <a:ext uri="{FF2B5EF4-FFF2-40B4-BE49-F238E27FC236}">
                <a16:creationId xmlns:a16="http://schemas.microsoft.com/office/drawing/2014/main" id="{DB6A8119-BC10-4878-841C-E446DD6DF07E}"/>
              </a:ext>
            </a:extLst>
          </p:cNvPr>
          <p:cNvSpPr txBox="1"/>
          <p:nvPr/>
        </p:nvSpPr>
        <p:spPr>
          <a:xfrm>
            <a:off x="824652" y="1414738"/>
            <a:ext cx="5803135" cy="10417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264"/>
              </a:lnSpc>
              <a:spcBef>
                <a:spcPct val="0"/>
              </a:spcBef>
            </a:pPr>
            <a:r>
              <a:rPr lang="en-US" sz="4400" b="1" dirty="0">
                <a:latin typeface="Gilroy Bold"/>
                <a:ea typeface="Gilroy Bold"/>
                <a:cs typeface="Gilroy Bold"/>
                <a:sym typeface="Gilroy Bold"/>
              </a:rPr>
              <a:t>1.REPORTE GENERAL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60957767-D37B-4C63-90C8-BBA01ACAF7F0}"/>
              </a:ext>
            </a:extLst>
          </p:cNvPr>
          <p:cNvSpPr txBox="1"/>
          <p:nvPr/>
        </p:nvSpPr>
        <p:spPr>
          <a:xfrm>
            <a:off x="3278132" y="3376740"/>
            <a:ext cx="3450619" cy="6277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2800" dirty="0">
                <a:latin typeface="Gilroy" panose="020B0604020202020204" charset="0"/>
                <a:ea typeface="Gilroy"/>
                <a:cs typeface="Gilroy"/>
                <a:sym typeface="Gilroy"/>
              </a:rPr>
              <a:t>Mesas de </a:t>
            </a:r>
            <a:r>
              <a:rPr lang="en-US" sz="2800" dirty="0" err="1">
                <a:latin typeface="Gilroy" panose="020B0604020202020204" charset="0"/>
                <a:ea typeface="Gilroy"/>
                <a:cs typeface="Gilroy"/>
                <a:sym typeface="Gilroy"/>
              </a:rPr>
              <a:t>seguridad</a:t>
            </a:r>
            <a:endParaRPr lang="en-US" sz="2800" dirty="0">
              <a:latin typeface="Gilroy" panose="020B0604020202020204" charset="0"/>
              <a:ea typeface="Gilroy"/>
              <a:cs typeface="Gilroy"/>
              <a:sym typeface="Gilroy"/>
            </a:endParaRPr>
          </a:p>
        </p:txBody>
      </p:sp>
      <p:sp>
        <p:nvSpPr>
          <p:cNvPr id="9" name="TextBox 5">
            <a:extLst>
              <a:ext uri="{FF2B5EF4-FFF2-40B4-BE49-F238E27FC236}">
                <a16:creationId xmlns:a16="http://schemas.microsoft.com/office/drawing/2014/main" id="{96FB21E9-5811-40C0-8235-73AD799DA764}"/>
              </a:ext>
            </a:extLst>
          </p:cNvPr>
          <p:cNvSpPr txBox="1"/>
          <p:nvPr/>
        </p:nvSpPr>
        <p:spPr>
          <a:xfrm>
            <a:off x="1619450" y="5101700"/>
            <a:ext cx="2107662" cy="6277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2800" dirty="0" err="1">
                <a:latin typeface="Gilroy" panose="020B0604020202020204" charset="0"/>
                <a:ea typeface="Gilroy"/>
                <a:cs typeface="Gilroy"/>
                <a:sym typeface="Gilroy"/>
              </a:rPr>
              <a:t>Asistencias</a:t>
            </a:r>
            <a:endParaRPr lang="en-US" sz="2800" dirty="0">
              <a:latin typeface="Gilroy" panose="020B0604020202020204" charset="0"/>
              <a:ea typeface="Gilroy"/>
              <a:cs typeface="Gilroy"/>
              <a:sym typeface="Gilroy"/>
            </a:endParaRPr>
          </a:p>
        </p:txBody>
      </p:sp>
      <p:sp>
        <p:nvSpPr>
          <p:cNvPr id="10" name="TextBox 5">
            <a:extLst>
              <a:ext uri="{FF2B5EF4-FFF2-40B4-BE49-F238E27FC236}">
                <a16:creationId xmlns:a16="http://schemas.microsoft.com/office/drawing/2014/main" id="{46697F84-209C-49B1-914F-7BEE7C90CC4C}"/>
              </a:ext>
            </a:extLst>
          </p:cNvPr>
          <p:cNvSpPr txBox="1"/>
          <p:nvPr/>
        </p:nvSpPr>
        <p:spPr>
          <a:xfrm>
            <a:off x="3727112" y="6804684"/>
            <a:ext cx="2340581" cy="6277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2800" dirty="0" err="1">
                <a:latin typeface="Gilroy" panose="020B0604020202020204" charset="0"/>
                <a:ea typeface="Gilroy"/>
                <a:cs typeface="Gilroy"/>
                <a:sym typeface="Gilroy"/>
              </a:rPr>
              <a:t>Inasistencias</a:t>
            </a:r>
            <a:endParaRPr lang="en-US" sz="2800" dirty="0">
              <a:latin typeface="Gilroy" panose="020B0604020202020204" charset="0"/>
              <a:ea typeface="Gilroy"/>
              <a:cs typeface="Gilroy"/>
              <a:sym typeface="Gilroy"/>
            </a:endParaRPr>
          </a:p>
        </p:txBody>
      </p:sp>
      <p:sp>
        <p:nvSpPr>
          <p:cNvPr id="11" name="TextBox 5">
            <a:extLst>
              <a:ext uri="{FF2B5EF4-FFF2-40B4-BE49-F238E27FC236}">
                <a16:creationId xmlns:a16="http://schemas.microsoft.com/office/drawing/2014/main" id="{780C7D75-8A2B-4191-A7A3-CF5E7B6F2B87}"/>
              </a:ext>
            </a:extLst>
          </p:cNvPr>
          <p:cNvSpPr txBox="1"/>
          <p:nvPr/>
        </p:nvSpPr>
        <p:spPr>
          <a:xfrm>
            <a:off x="7934695" y="7622725"/>
            <a:ext cx="4699523" cy="6277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47.60% de </a:t>
            </a: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cumplimiento</a:t>
            </a:r>
            <a:endParaRPr lang="en-US" sz="2800" dirty="0">
              <a:latin typeface="Gilroy"/>
              <a:ea typeface="Gilroy"/>
              <a:cs typeface="Gilroy"/>
              <a:sym typeface="Gilroy"/>
            </a:endParaRPr>
          </a:p>
        </p:txBody>
      </p:sp>
      <p:sp>
        <p:nvSpPr>
          <p:cNvPr id="12" name="TextBox 3">
            <a:extLst>
              <a:ext uri="{FF2B5EF4-FFF2-40B4-BE49-F238E27FC236}">
                <a16:creationId xmlns:a16="http://schemas.microsoft.com/office/drawing/2014/main" id="{0C08695E-35D2-4395-AF9D-9B144F4578E9}"/>
              </a:ext>
            </a:extLst>
          </p:cNvPr>
          <p:cNvSpPr txBox="1"/>
          <p:nvPr/>
        </p:nvSpPr>
        <p:spPr>
          <a:xfrm>
            <a:off x="914400" y="3150905"/>
            <a:ext cx="2155286" cy="119263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264"/>
              </a:lnSpc>
              <a:spcBef>
                <a:spcPct val="0"/>
              </a:spcBef>
            </a:pPr>
            <a:r>
              <a:rPr lang="en-US" sz="8000" b="1" spc="-150" dirty="0">
                <a:solidFill>
                  <a:srgbClr val="CFAB7E"/>
                </a:solidFill>
                <a:latin typeface="Gilroy Bold"/>
                <a:ea typeface="Gilroy Bold"/>
                <a:cs typeface="Gilroy Bold"/>
                <a:sym typeface="Gilroy Bold"/>
              </a:rPr>
              <a:t>1029</a:t>
            </a:r>
          </a:p>
        </p:txBody>
      </p:sp>
      <p:sp>
        <p:nvSpPr>
          <p:cNvPr id="20" name="TextBox 3">
            <a:extLst>
              <a:ext uri="{FF2B5EF4-FFF2-40B4-BE49-F238E27FC236}">
                <a16:creationId xmlns:a16="http://schemas.microsoft.com/office/drawing/2014/main" id="{0E9B59A0-A71B-46C7-AE70-6528C926EA04}"/>
              </a:ext>
            </a:extLst>
          </p:cNvPr>
          <p:cNvSpPr txBox="1"/>
          <p:nvPr/>
        </p:nvSpPr>
        <p:spPr>
          <a:xfrm>
            <a:off x="3837818" y="4808263"/>
            <a:ext cx="1893793" cy="119263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264"/>
              </a:lnSpc>
              <a:spcBef>
                <a:spcPct val="0"/>
              </a:spcBef>
            </a:pPr>
            <a:r>
              <a:rPr lang="en-US" sz="8000" b="1" spc="-150" dirty="0">
                <a:solidFill>
                  <a:srgbClr val="0D312D"/>
                </a:solidFill>
                <a:latin typeface="Gilroy Bold"/>
                <a:ea typeface="Gilroy Bold"/>
                <a:cs typeface="Gilroy Bold"/>
                <a:sym typeface="Gilroy Bold"/>
              </a:rPr>
              <a:t>517</a:t>
            </a:r>
          </a:p>
        </p:txBody>
      </p:sp>
      <p:sp>
        <p:nvSpPr>
          <p:cNvPr id="21" name="TextBox 3">
            <a:extLst>
              <a:ext uri="{FF2B5EF4-FFF2-40B4-BE49-F238E27FC236}">
                <a16:creationId xmlns:a16="http://schemas.microsoft.com/office/drawing/2014/main" id="{00C803A2-83EF-465E-8771-DE60231D0F81}"/>
              </a:ext>
            </a:extLst>
          </p:cNvPr>
          <p:cNvSpPr txBox="1"/>
          <p:nvPr/>
        </p:nvSpPr>
        <p:spPr>
          <a:xfrm>
            <a:off x="1726384" y="6430091"/>
            <a:ext cx="1893793" cy="119263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264"/>
              </a:lnSpc>
              <a:spcBef>
                <a:spcPct val="0"/>
              </a:spcBef>
            </a:pPr>
            <a:r>
              <a:rPr lang="en-US" sz="8000" b="1" spc="-150" dirty="0">
                <a:solidFill>
                  <a:srgbClr val="841E38"/>
                </a:solidFill>
                <a:latin typeface="Gilroy Bold"/>
                <a:ea typeface="Gilroy Bold"/>
                <a:cs typeface="Gilroy Bold"/>
                <a:sym typeface="Gilroy Bold"/>
              </a:rPr>
              <a:t>568</a:t>
            </a:r>
          </a:p>
        </p:txBody>
      </p:sp>
      <p:sp>
        <p:nvSpPr>
          <p:cNvPr id="25" name="TextBox 5">
            <a:extLst>
              <a:ext uri="{FF2B5EF4-FFF2-40B4-BE49-F238E27FC236}">
                <a16:creationId xmlns:a16="http://schemas.microsoft.com/office/drawing/2014/main" id="{B858F9DE-310A-484F-8759-FADD5C0F8500}"/>
              </a:ext>
            </a:extLst>
          </p:cNvPr>
          <p:cNvSpPr txBox="1"/>
          <p:nvPr/>
        </p:nvSpPr>
        <p:spPr>
          <a:xfrm>
            <a:off x="7212016" y="2909225"/>
            <a:ext cx="5444627" cy="6277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Semana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1 al 6 de </a:t>
            </a: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febrero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de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76200" y="3025"/>
            <a:ext cx="13715999" cy="10283975"/>
            <a:chOff x="0" y="0"/>
            <a:chExt cx="17750118" cy="137119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750118" cy="13711966"/>
            </a:xfrm>
            <a:custGeom>
              <a:avLst/>
              <a:gdLst/>
              <a:ahLst/>
              <a:cxnLst/>
              <a:rect l="l" t="t" r="r" b="b"/>
              <a:pathLst>
                <a:path w="17750118" h="13711966">
                  <a:moveTo>
                    <a:pt x="0" y="0"/>
                  </a:moveTo>
                  <a:lnTo>
                    <a:pt x="17750118" y="0"/>
                  </a:lnTo>
                  <a:lnTo>
                    <a:pt x="17750118" y="13711966"/>
                  </a:lnTo>
                  <a:lnTo>
                    <a:pt x="0" y="13711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>
              <a:off x="777253" y="616144"/>
              <a:ext cx="9313341" cy="985065"/>
            </a:xfrm>
            <a:custGeom>
              <a:avLst/>
              <a:gdLst/>
              <a:ahLst/>
              <a:cxnLst/>
              <a:rect l="l" t="t" r="r" b="b"/>
              <a:pathLst>
                <a:path w="9313341" h="985065">
                  <a:moveTo>
                    <a:pt x="0" y="0"/>
                  </a:moveTo>
                  <a:lnTo>
                    <a:pt x="9313342" y="0"/>
                  </a:lnTo>
                  <a:lnTo>
                    <a:pt x="9313342" y="985065"/>
                  </a:lnTo>
                  <a:lnTo>
                    <a:pt x="0" y="9850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  <p:sp>
          <p:nvSpPr>
            <p:cNvPr id="5" name="Freeform 5"/>
            <p:cNvSpPr/>
            <p:nvPr/>
          </p:nvSpPr>
          <p:spPr>
            <a:xfrm>
              <a:off x="777253" y="13401347"/>
              <a:ext cx="16168531" cy="310619"/>
            </a:xfrm>
            <a:custGeom>
              <a:avLst/>
              <a:gdLst/>
              <a:ahLst/>
              <a:cxnLst/>
              <a:rect l="l" t="t" r="r" b="b"/>
              <a:pathLst>
                <a:path w="16168531" h="310619">
                  <a:moveTo>
                    <a:pt x="0" y="0"/>
                  </a:moveTo>
                  <a:lnTo>
                    <a:pt x="16168531" y="0"/>
                  </a:lnTo>
                  <a:lnTo>
                    <a:pt x="16168531" y="310619"/>
                  </a:lnTo>
                  <a:lnTo>
                    <a:pt x="0" y="310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7" name="TextBox 3">
            <a:extLst>
              <a:ext uri="{FF2B5EF4-FFF2-40B4-BE49-F238E27FC236}">
                <a16:creationId xmlns:a16="http://schemas.microsoft.com/office/drawing/2014/main" id="{DB6A8119-BC10-4878-841C-E446DD6DF07E}"/>
              </a:ext>
            </a:extLst>
          </p:cNvPr>
          <p:cNvSpPr txBox="1"/>
          <p:nvPr/>
        </p:nvSpPr>
        <p:spPr>
          <a:xfrm>
            <a:off x="824652" y="1414738"/>
            <a:ext cx="5803135" cy="10417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264"/>
              </a:lnSpc>
              <a:spcBef>
                <a:spcPct val="0"/>
              </a:spcBef>
            </a:pPr>
            <a:r>
              <a:rPr lang="en-US" sz="4400" b="1" dirty="0">
                <a:latin typeface="Gilroy Bold"/>
                <a:ea typeface="Gilroy Bold"/>
                <a:cs typeface="Gilroy Bold"/>
                <a:sym typeface="Gilroy Bold"/>
              </a:rPr>
              <a:t>1.REPORTE GENERAL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60957767-D37B-4C63-90C8-BBA01ACAF7F0}"/>
              </a:ext>
            </a:extLst>
          </p:cNvPr>
          <p:cNvSpPr txBox="1"/>
          <p:nvPr/>
        </p:nvSpPr>
        <p:spPr>
          <a:xfrm>
            <a:off x="3278132" y="3376740"/>
            <a:ext cx="3450619" cy="6277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2800" dirty="0">
                <a:latin typeface="Gilroy" panose="020B0604020202020204" charset="0"/>
                <a:ea typeface="Gilroy"/>
                <a:cs typeface="Gilroy"/>
                <a:sym typeface="Gilroy"/>
              </a:rPr>
              <a:t>Mesas de </a:t>
            </a:r>
            <a:r>
              <a:rPr lang="en-US" sz="2800" dirty="0" err="1">
                <a:latin typeface="Gilroy" panose="020B0604020202020204" charset="0"/>
                <a:ea typeface="Gilroy"/>
                <a:cs typeface="Gilroy"/>
                <a:sym typeface="Gilroy"/>
              </a:rPr>
              <a:t>seguridad</a:t>
            </a:r>
            <a:endParaRPr lang="en-US" sz="2800" dirty="0">
              <a:latin typeface="Gilroy" panose="020B0604020202020204" charset="0"/>
              <a:ea typeface="Gilroy"/>
              <a:cs typeface="Gilroy"/>
              <a:sym typeface="Gilroy"/>
            </a:endParaRPr>
          </a:p>
        </p:txBody>
      </p:sp>
      <p:sp>
        <p:nvSpPr>
          <p:cNvPr id="9" name="TextBox 5">
            <a:extLst>
              <a:ext uri="{FF2B5EF4-FFF2-40B4-BE49-F238E27FC236}">
                <a16:creationId xmlns:a16="http://schemas.microsoft.com/office/drawing/2014/main" id="{96FB21E9-5811-40C0-8235-73AD799DA764}"/>
              </a:ext>
            </a:extLst>
          </p:cNvPr>
          <p:cNvSpPr txBox="1"/>
          <p:nvPr/>
        </p:nvSpPr>
        <p:spPr>
          <a:xfrm>
            <a:off x="1619450" y="5101700"/>
            <a:ext cx="2107662" cy="6277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2800" dirty="0" err="1">
                <a:latin typeface="Gilroy" panose="020B0604020202020204" charset="0"/>
                <a:ea typeface="Gilroy"/>
                <a:cs typeface="Gilroy"/>
                <a:sym typeface="Gilroy"/>
              </a:rPr>
              <a:t>Asistencias</a:t>
            </a:r>
            <a:endParaRPr lang="en-US" sz="2800" dirty="0">
              <a:latin typeface="Gilroy" panose="020B0604020202020204" charset="0"/>
              <a:ea typeface="Gilroy"/>
              <a:cs typeface="Gilroy"/>
              <a:sym typeface="Gilroy"/>
            </a:endParaRPr>
          </a:p>
        </p:txBody>
      </p:sp>
      <p:sp>
        <p:nvSpPr>
          <p:cNvPr id="10" name="TextBox 5">
            <a:extLst>
              <a:ext uri="{FF2B5EF4-FFF2-40B4-BE49-F238E27FC236}">
                <a16:creationId xmlns:a16="http://schemas.microsoft.com/office/drawing/2014/main" id="{46697F84-209C-49B1-914F-7BEE7C90CC4C}"/>
              </a:ext>
            </a:extLst>
          </p:cNvPr>
          <p:cNvSpPr txBox="1"/>
          <p:nvPr/>
        </p:nvSpPr>
        <p:spPr>
          <a:xfrm>
            <a:off x="3727112" y="6804684"/>
            <a:ext cx="2340581" cy="6277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2800" dirty="0" err="1">
                <a:latin typeface="Gilroy" panose="020B0604020202020204" charset="0"/>
                <a:ea typeface="Gilroy"/>
                <a:cs typeface="Gilroy"/>
                <a:sym typeface="Gilroy"/>
              </a:rPr>
              <a:t>Inasistencias</a:t>
            </a:r>
            <a:endParaRPr lang="en-US" sz="2800" dirty="0">
              <a:latin typeface="Gilroy" panose="020B0604020202020204" charset="0"/>
              <a:ea typeface="Gilroy"/>
              <a:cs typeface="Gilroy"/>
              <a:sym typeface="Gilroy"/>
            </a:endParaRPr>
          </a:p>
        </p:txBody>
      </p:sp>
      <p:sp>
        <p:nvSpPr>
          <p:cNvPr id="11" name="TextBox 5">
            <a:extLst>
              <a:ext uri="{FF2B5EF4-FFF2-40B4-BE49-F238E27FC236}">
                <a16:creationId xmlns:a16="http://schemas.microsoft.com/office/drawing/2014/main" id="{780C7D75-8A2B-4191-A7A3-CF5E7B6F2B87}"/>
              </a:ext>
            </a:extLst>
          </p:cNvPr>
          <p:cNvSpPr txBox="1"/>
          <p:nvPr/>
        </p:nvSpPr>
        <p:spPr>
          <a:xfrm>
            <a:off x="7934695" y="7622725"/>
            <a:ext cx="4699523" cy="6277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47.60% de </a:t>
            </a: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cumplimiento</a:t>
            </a:r>
            <a:endParaRPr lang="en-US" sz="2800" dirty="0">
              <a:latin typeface="Gilroy"/>
              <a:ea typeface="Gilroy"/>
              <a:cs typeface="Gilroy"/>
              <a:sym typeface="Gilroy"/>
            </a:endParaRPr>
          </a:p>
        </p:txBody>
      </p:sp>
      <p:sp>
        <p:nvSpPr>
          <p:cNvPr id="12" name="TextBox 3">
            <a:extLst>
              <a:ext uri="{FF2B5EF4-FFF2-40B4-BE49-F238E27FC236}">
                <a16:creationId xmlns:a16="http://schemas.microsoft.com/office/drawing/2014/main" id="{0C08695E-35D2-4395-AF9D-9B144F4578E9}"/>
              </a:ext>
            </a:extLst>
          </p:cNvPr>
          <p:cNvSpPr txBox="1"/>
          <p:nvPr/>
        </p:nvSpPr>
        <p:spPr>
          <a:xfrm>
            <a:off x="914400" y="3150905"/>
            <a:ext cx="2155286" cy="119263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264"/>
              </a:lnSpc>
              <a:spcBef>
                <a:spcPct val="0"/>
              </a:spcBef>
            </a:pPr>
            <a:r>
              <a:rPr lang="en-US" sz="8000" b="1" spc="-150" dirty="0">
                <a:solidFill>
                  <a:srgbClr val="CFAB7E"/>
                </a:solidFill>
                <a:latin typeface="Gilroy Bold"/>
                <a:ea typeface="Gilroy Bold"/>
                <a:cs typeface="Gilroy Bold"/>
                <a:sym typeface="Gilroy Bold"/>
              </a:rPr>
              <a:t>1029</a:t>
            </a:r>
          </a:p>
        </p:txBody>
      </p:sp>
      <p:sp>
        <p:nvSpPr>
          <p:cNvPr id="20" name="TextBox 3">
            <a:extLst>
              <a:ext uri="{FF2B5EF4-FFF2-40B4-BE49-F238E27FC236}">
                <a16:creationId xmlns:a16="http://schemas.microsoft.com/office/drawing/2014/main" id="{0E9B59A0-A71B-46C7-AE70-6528C926EA04}"/>
              </a:ext>
            </a:extLst>
          </p:cNvPr>
          <p:cNvSpPr txBox="1"/>
          <p:nvPr/>
        </p:nvSpPr>
        <p:spPr>
          <a:xfrm>
            <a:off x="3837818" y="4808263"/>
            <a:ext cx="1893793" cy="119263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264"/>
              </a:lnSpc>
              <a:spcBef>
                <a:spcPct val="0"/>
              </a:spcBef>
            </a:pPr>
            <a:r>
              <a:rPr lang="en-US" sz="8000" b="1" spc="-150" dirty="0">
                <a:solidFill>
                  <a:srgbClr val="0D312D"/>
                </a:solidFill>
                <a:latin typeface="Gilroy Bold"/>
                <a:ea typeface="Gilroy Bold"/>
                <a:cs typeface="Gilroy Bold"/>
                <a:sym typeface="Gilroy Bold"/>
              </a:rPr>
              <a:t>517</a:t>
            </a:r>
          </a:p>
        </p:txBody>
      </p:sp>
      <p:sp>
        <p:nvSpPr>
          <p:cNvPr id="21" name="TextBox 3">
            <a:extLst>
              <a:ext uri="{FF2B5EF4-FFF2-40B4-BE49-F238E27FC236}">
                <a16:creationId xmlns:a16="http://schemas.microsoft.com/office/drawing/2014/main" id="{00C803A2-83EF-465E-8771-DE60231D0F81}"/>
              </a:ext>
            </a:extLst>
          </p:cNvPr>
          <p:cNvSpPr txBox="1"/>
          <p:nvPr/>
        </p:nvSpPr>
        <p:spPr>
          <a:xfrm>
            <a:off x="1726384" y="6430091"/>
            <a:ext cx="1893793" cy="119263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264"/>
              </a:lnSpc>
              <a:spcBef>
                <a:spcPct val="0"/>
              </a:spcBef>
            </a:pPr>
            <a:r>
              <a:rPr lang="en-US" sz="8000" b="1" spc="-150" dirty="0">
                <a:solidFill>
                  <a:srgbClr val="841E38"/>
                </a:solidFill>
                <a:latin typeface="Gilroy Bold"/>
                <a:ea typeface="Gilroy Bold"/>
                <a:cs typeface="Gilroy Bold"/>
                <a:sym typeface="Gilroy Bold"/>
              </a:rPr>
              <a:t>568</a:t>
            </a:r>
          </a:p>
        </p:txBody>
      </p:sp>
      <p:sp>
        <p:nvSpPr>
          <p:cNvPr id="25" name="TextBox 5">
            <a:extLst>
              <a:ext uri="{FF2B5EF4-FFF2-40B4-BE49-F238E27FC236}">
                <a16:creationId xmlns:a16="http://schemas.microsoft.com/office/drawing/2014/main" id="{B858F9DE-310A-484F-8759-FADD5C0F8500}"/>
              </a:ext>
            </a:extLst>
          </p:cNvPr>
          <p:cNvSpPr txBox="1"/>
          <p:nvPr/>
        </p:nvSpPr>
        <p:spPr>
          <a:xfrm>
            <a:off x="7212016" y="2909225"/>
            <a:ext cx="5444627" cy="13458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Semana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7 al 13 de </a:t>
            </a: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febrero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de 2026</a:t>
            </a:r>
          </a:p>
        </p:txBody>
      </p:sp>
    </p:spTree>
    <p:extLst>
      <p:ext uri="{BB962C8B-B14F-4D97-AF65-F5344CB8AC3E}">
        <p14:creationId xmlns:p14="http://schemas.microsoft.com/office/powerpoint/2010/main" val="32373561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2"/>
            <a:ext cx="13716000" cy="10283975"/>
            <a:chOff x="0" y="0"/>
            <a:chExt cx="17750118" cy="137119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750118" cy="13711966"/>
            </a:xfrm>
            <a:custGeom>
              <a:avLst/>
              <a:gdLst/>
              <a:ahLst/>
              <a:cxnLst/>
              <a:rect l="l" t="t" r="r" b="b"/>
              <a:pathLst>
                <a:path w="17750118" h="13711966">
                  <a:moveTo>
                    <a:pt x="0" y="0"/>
                  </a:moveTo>
                  <a:lnTo>
                    <a:pt x="17750118" y="0"/>
                  </a:lnTo>
                  <a:lnTo>
                    <a:pt x="17750118" y="13711966"/>
                  </a:lnTo>
                  <a:lnTo>
                    <a:pt x="0" y="13711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>
              <a:off x="777253" y="616144"/>
              <a:ext cx="9313341" cy="985065"/>
            </a:xfrm>
            <a:custGeom>
              <a:avLst/>
              <a:gdLst/>
              <a:ahLst/>
              <a:cxnLst/>
              <a:rect l="l" t="t" r="r" b="b"/>
              <a:pathLst>
                <a:path w="9313341" h="985065">
                  <a:moveTo>
                    <a:pt x="0" y="0"/>
                  </a:moveTo>
                  <a:lnTo>
                    <a:pt x="9313342" y="0"/>
                  </a:lnTo>
                  <a:lnTo>
                    <a:pt x="9313342" y="985065"/>
                  </a:lnTo>
                  <a:lnTo>
                    <a:pt x="0" y="9850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  <p:sp>
          <p:nvSpPr>
            <p:cNvPr id="5" name="Freeform 5"/>
            <p:cNvSpPr/>
            <p:nvPr/>
          </p:nvSpPr>
          <p:spPr>
            <a:xfrm>
              <a:off x="777253" y="13401347"/>
              <a:ext cx="16168531" cy="310619"/>
            </a:xfrm>
            <a:custGeom>
              <a:avLst/>
              <a:gdLst/>
              <a:ahLst/>
              <a:cxnLst/>
              <a:rect l="l" t="t" r="r" b="b"/>
              <a:pathLst>
                <a:path w="16168531" h="310619">
                  <a:moveTo>
                    <a:pt x="0" y="0"/>
                  </a:moveTo>
                  <a:lnTo>
                    <a:pt x="16168531" y="0"/>
                  </a:lnTo>
                  <a:lnTo>
                    <a:pt x="16168531" y="310619"/>
                  </a:lnTo>
                  <a:lnTo>
                    <a:pt x="0" y="310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1" name="TextBox 3">
            <a:extLst>
              <a:ext uri="{FF2B5EF4-FFF2-40B4-BE49-F238E27FC236}">
                <a16:creationId xmlns:a16="http://schemas.microsoft.com/office/drawing/2014/main" id="{EA22F396-4286-4590-8BF9-0639630495FE}"/>
              </a:ext>
            </a:extLst>
          </p:cNvPr>
          <p:cNvSpPr txBox="1"/>
          <p:nvPr/>
        </p:nvSpPr>
        <p:spPr>
          <a:xfrm>
            <a:off x="824652" y="1414738"/>
            <a:ext cx="8776548" cy="10417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264"/>
              </a:lnSpc>
              <a:spcBef>
                <a:spcPct val="0"/>
              </a:spcBef>
            </a:pPr>
            <a:r>
              <a:rPr lang="en-US" sz="4400" b="1" dirty="0">
                <a:latin typeface="Gilroy Bold"/>
                <a:ea typeface="Gilroy Bold"/>
                <a:cs typeface="Gilroy Bold"/>
                <a:sym typeface="Gilroy Bold"/>
              </a:rPr>
              <a:t>1.REPORTE DIARIO SEMANAL</a:t>
            </a:r>
          </a:p>
        </p:txBody>
      </p:sp>
      <p:sp>
        <p:nvSpPr>
          <p:cNvPr id="14" name="TextBox 5">
            <a:extLst>
              <a:ext uri="{FF2B5EF4-FFF2-40B4-BE49-F238E27FC236}">
                <a16:creationId xmlns:a16="http://schemas.microsoft.com/office/drawing/2014/main" id="{558E664C-F4F3-44E6-95A7-AD25703D9C8B}"/>
              </a:ext>
            </a:extLst>
          </p:cNvPr>
          <p:cNvSpPr txBox="1"/>
          <p:nvPr/>
        </p:nvSpPr>
        <p:spPr>
          <a:xfrm>
            <a:off x="1731971" y="2716166"/>
            <a:ext cx="4728423" cy="6277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1 al 6 de </a:t>
            </a: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febrero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de 2026</a:t>
            </a:r>
          </a:p>
        </p:txBody>
      </p:sp>
      <p:sp>
        <p:nvSpPr>
          <p:cNvPr id="18" name="TextBox 5">
            <a:extLst>
              <a:ext uri="{FF2B5EF4-FFF2-40B4-BE49-F238E27FC236}">
                <a16:creationId xmlns:a16="http://schemas.microsoft.com/office/drawing/2014/main" id="{C679D47B-EF5E-433B-8D0B-DE0D1426F00A}"/>
              </a:ext>
            </a:extLst>
          </p:cNvPr>
          <p:cNvSpPr txBox="1"/>
          <p:nvPr/>
        </p:nvSpPr>
        <p:spPr>
          <a:xfrm>
            <a:off x="7723985" y="2716166"/>
            <a:ext cx="4728424" cy="6277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7 al 13 de </a:t>
            </a: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febrero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de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2"/>
            <a:ext cx="13716000" cy="10283975"/>
            <a:chOff x="0" y="0"/>
            <a:chExt cx="17750118" cy="137119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750118" cy="13711966"/>
            </a:xfrm>
            <a:custGeom>
              <a:avLst/>
              <a:gdLst/>
              <a:ahLst/>
              <a:cxnLst/>
              <a:rect l="l" t="t" r="r" b="b"/>
              <a:pathLst>
                <a:path w="17750118" h="13711966">
                  <a:moveTo>
                    <a:pt x="0" y="0"/>
                  </a:moveTo>
                  <a:lnTo>
                    <a:pt x="17750118" y="0"/>
                  </a:lnTo>
                  <a:lnTo>
                    <a:pt x="17750118" y="13711966"/>
                  </a:lnTo>
                  <a:lnTo>
                    <a:pt x="0" y="13711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>
              <a:off x="777253" y="616144"/>
              <a:ext cx="9313341" cy="985065"/>
            </a:xfrm>
            <a:custGeom>
              <a:avLst/>
              <a:gdLst/>
              <a:ahLst/>
              <a:cxnLst/>
              <a:rect l="l" t="t" r="r" b="b"/>
              <a:pathLst>
                <a:path w="9313341" h="985065">
                  <a:moveTo>
                    <a:pt x="0" y="0"/>
                  </a:moveTo>
                  <a:lnTo>
                    <a:pt x="9313342" y="0"/>
                  </a:lnTo>
                  <a:lnTo>
                    <a:pt x="9313342" y="985065"/>
                  </a:lnTo>
                  <a:lnTo>
                    <a:pt x="0" y="9850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  <p:sp>
          <p:nvSpPr>
            <p:cNvPr id="5" name="Freeform 5"/>
            <p:cNvSpPr/>
            <p:nvPr/>
          </p:nvSpPr>
          <p:spPr>
            <a:xfrm>
              <a:off x="777253" y="13401347"/>
              <a:ext cx="16168531" cy="310619"/>
            </a:xfrm>
            <a:custGeom>
              <a:avLst/>
              <a:gdLst/>
              <a:ahLst/>
              <a:cxnLst/>
              <a:rect l="l" t="t" r="r" b="b"/>
              <a:pathLst>
                <a:path w="16168531" h="310619">
                  <a:moveTo>
                    <a:pt x="0" y="0"/>
                  </a:moveTo>
                  <a:lnTo>
                    <a:pt x="16168531" y="0"/>
                  </a:lnTo>
                  <a:lnTo>
                    <a:pt x="16168531" y="310619"/>
                  </a:lnTo>
                  <a:lnTo>
                    <a:pt x="0" y="310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1" name="TextBox 3">
            <a:extLst>
              <a:ext uri="{FF2B5EF4-FFF2-40B4-BE49-F238E27FC236}">
                <a16:creationId xmlns:a16="http://schemas.microsoft.com/office/drawing/2014/main" id="{EA22F396-4286-4590-8BF9-0639630495FE}"/>
              </a:ext>
            </a:extLst>
          </p:cNvPr>
          <p:cNvSpPr txBox="1"/>
          <p:nvPr/>
        </p:nvSpPr>
        <p:spPr>
          <a:xfrm>
            <a:off x="914400" y="1280738"/>
            <a:ext cx="9919548" cy="10417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264"/>
              </a:lnSpc>
              <a:spcBef>
                <a:spcPct val="0"/>
              </a:spcBef>
            </a:pPr>
            <a:r>
              <a:rPr lang="en-US" sz="4400" b="1" dirty="0">
                <a:latin typeface="Gilroy Bold"/>
                <a:ea typeface="Gilroy Bold"/>
                <a:cs typeface="Gilroy Bold"/>
                <a:sym typeface="Gilroy Bold"/>
              </a:rPr>
              <a:t>3.REPORTE POR MICRORREGIÓN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23964F12-9778-4E1A-BAEF-955A083705A3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25200" y="340341"/>
            <a:ext cx="2157494" cy="2188797"/>
          </a:xfrm>
          <a:prstGeom prst="rect">
            <a:avLst/>
          </a:prstGeom>
        </p:spPr>
      </p:pic>
      <p:sp>
        <p:nvSpPr>
          <p:cNvPr id="13" name="TextBox 5">
            <a:extLst>
              <a:ext uri="{FF2B5EF4-FFF2-40B4-BE49-F238E27FC236}">
                <a16:creationId xmlns:a16="http://schemas.microsoft.com/office/drawing/2014/main" id="{524D94FD-C58F-494F-B9C6-6D057BCFDAB1}"/>
              </a:ext>
            </a:extLst>
          </p:cNvPr>
          <p:cNvSpPr txBox="1"/>
          <p:nvPr/>
        </p:nvSpPr>
        <p:spPr>
          <a:xfrm>
            <a:off x="1143000" y="2402327"/>
            <a:ext cx="3450619" cy="6277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59"/>
              </a:lnSpc>
            </a:pPr>
            <a:r>
              <a:rPr lang="en-US" sz="2800" dirty="0">
                <a:latin typeface="Gilroy Bold" panose="020B0604020202020204" charset="0"/>
                <a:ea typeface="Gilroy"/>
                <a:cs typeface="Gilroy"/>
                <a:sym typeface="Gilroy"/>
              </a:rPr>
              <a:t>MR1 XICOTEPEC</a:t>
            </a:r>
          </a:p>
        </p:txBody>
      </p:sp>
      <p:sp>
        <p:nvSpPr>
          <p:cNvPr id="27" name="TextBox 5">
            <a:extLst>
              <a:ext uri="{FF2B5EF4-FFF2-40B4-BE49-F238E27FC236}">
                <a16:creationId xmlns:a16="http://schemas.microsoft.com/office/drawing/2014/main" id="{F1DEBECB-E19E-4FCB-A46C-AB8DFE8E0874}"/>
              </a:ext>
            </a:extLst>
          </p:cNvPr>
          <p:cNvSpPr txBox="1"/>
          <p:nvPr/>
        </p:nvSpPr>
        <p:spPr>
          <a:xfrm>
            <a:off x="6324600" y="8994062"/>
            <a:ext cx="6754212" cy="6277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Semana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1 al 6 de </a:t>
            </a: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febrero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de 2026</a:t>
            </a:r>
          </a:p>
        </p:txBody>
      </p:sp>
    </p:spTree>
    <p:extLst>
      <p:ext uri="{BB962C8B-B14F-4D97-AF65-F5344CB8AC3E}">
        <p14:creationId xmlns:p14="http://schemas.microsoft.com/office/powerpoint/2010/main" val="5184963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2"/>
            <a:ext cx="13716000" cy="10283975"/>
            <a:chOff x="0" y="0"/>
            <a:chExt cx="17750118" cy="137119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750118" cy="13711966"/>
            </a:xfrm>
            <a:custGeom>
              <a:avLst/>
              <a:gdLst/>
              <a:ahLst/>
              <a:cxnLst/>
              <a:rect l="l" t="t" r="r" b="b"/>
              <a:pathLst>
                <a:path w="17750118" h="13711966">
                  <a:moveTo>
                    <a:pt x="0" y="0"/>
                  </a:moveTo>
                  <a:lnTo>
                    <a:pt x="17750118" y="0"/>
                  </a:lnTo>
                  <a:lnTo>
                    <a:pt x="17750118" y="13711966"/>
                  </a:lnTo>
                  <a:lnTo>
                    <a:pt x="0" y="13711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>
              <a:off x="777253" y="616144"/>
              <a:ext cx="9313341" cy="985065"/>
            </a:xfrm>
            <a:custGeom>
              <a:avLst/>
              <a:gdLst/>
              <a:ahLst/>
              <a:cxnLst/>
              <a:rect l="l" t="t" r="r" b="b"/>
              <a:pathLst>
                <a:path w="9313341" h="985065">
                  <a:moveTo>
                    <a:pt x="0" y="0"/>
                  </a:moveTo>
                  <a:lnTo>
                    <a:pt x="9313342" y="0"/>
                  </a:lnTo>
                  <a:lnTo>
                    <a:pt x="9313342" y="985065"/>
                  </a:lnTo>
                  <a:lnTo>
                    <a:pt x="0" y="9850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  <p:sp>
          <p:nvSpPr>
            <p:cNvPr id="5" name="Freeform 5"/>
            <p:cNvSpPr/>
            <p:nvPr/>
          </p:nvSpPr>
          <p:spPr>
            <a:xfrm>
              <a:off x="777253" y="13401347"/>
              <a:ext cx="16168531" cy="310619"/>
            </a:xfrm>
            <a:custGeom>
              <a:avLst/>
              <a:gdLst/>
              <a:ahLst/>
              <a:cxnLst/>
              <a:rect l="l" t="t" r="r" b="b"/>
              <a:pathLst>
                <a:path w="16168531" h="310619">
                  <a:moveTo>
                    <a:pt x="0" y="0"/>
                  </a:moveTo>
                  <a:lnTo>
                    <a:pt x="16168531" y="0"/>
                  </a:lnTo>
                  <a:lnTo>
                    <a:pt x="16168531" y="310619"/>
                  </a:lnTo>
                  <a:lnTo>
                    <a:pt x="0" y="310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1" name="TextBox 3">
            <a:extLst>
              <a:ext uri="{FF2B5EF4-FFF2-40B4-BE49-F238E27FC236}">
                <a16:creationId xmlns:a16="http://schemas.microsoft.com/office/drawing/2014/main" id="{EA22F396-4286-4590-8BF9-0639630495FE}"/>
              </a:ext>
            </a:extLst>
          </p:cNvPr>
          <p:cNvSpPr txBox="1"/>
          <p:nvPr/>
        </p:nvSpPr>
        <p:spPr>
          <a:xfrm>
            <a:off x="914400" y="1280738"/>
            <a:ext cx="9919548" cy="10417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264"/>
              </a:lnSpc>
              <a:spcBef>
                <a:spcPct val="0"/>
              </a:spcBef>
            </a:pPr>
            <a:r>
              <a:rPr lang="en-US" sz="4400" b="1" dirty="0">
                <a:latin typeface="Gilroy Bold"/>
                <a:ea typeface="Gilroy Bold"/>
                <a:cs typeface="Gilroy Bold"/>
                <a:sym typeface="Gilroy Bold"/>
              </a:rPr>
              <a:t>3.REPORTE POR MICRORREGIÓN</a:t>
            </a: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524D94FD-C58F-494F-B9C6-6D057BCFDAB1}"/>
              </a:ext>
            </a:extLst>
          </p:cNvPr>
          <p:cNvSpPr txBox="1"/>
          <p:nvPr/>
        </p:nvSpPr>
        <p:spPr>
          <a:xfrm>
            <a:off x="1143000" y="2402327"/>
            <a:ext cx="4038600" cy="6323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59"/>
              </a:lnSpc>
            </a:pPr>
            <a:r>
              <a:rPr lang="en-US" sz="2800" dirty="0">
                <a:latin typeface="Gilroy Bold" panose="020B0604020202020204" charset="0"/>
                <a:ea typeface="Gilroy"/>
                <a:cs typeface="Gilroy"/>
                <a:sym typeface="Gilroy"/>
              </a:rPr>
              <a:t>MR2 HUAUCHINANGO</a:t>
            </a:r>
          </a:p>
        </p:txBody>
      </p:sp>
      <p:sp>
        <p:nvSpPr>
          <p:cNvPr id="27" name="TextBox 5">
            <a:extLst>
              <a:ext uri="{FF2B5EF4-FFF2-40B4-BE49-F238E27FC236}">
                <a16:creationId xmlns:a16="http://schemas.microsoft.com/office/drawing/2014/main" id="{F1DEBECB-E19E-4FCB-A46C-AB8DFE8E0874}"/>
              </a:ext>
            </a:extLst>
          </p:cNvPr>
          <p:cNvSpPr txBox="1"/>
          <p:nvPr/>
        </p:nvSpPr>
        <p:spPr>
          <a:xfrm>
            <a:off x="6324600" y="8994062"/>
            <a:ext cx="6754212" cy="6277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Semana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1 al 6 de </a:t>
            </a: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febrero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de 2026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2484433E-43FB-4573-914F-A992D2B57EE1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42535" y="254703"/>
            <a:ext cx="1772860" cy="2319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14562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2"/>
            <a:ext cx="13716000" cy="10283975"/>
            <a:chOff x="0" y="0"/>
            <a:chExt cx="17750118" cy="137119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750118" cy="13711966"/>
            </a:xfrm>
            <a:custGeom>
              <a:avLst/>
              <a:gdLst/>
              <a:ahLst/>
              <a:cxnLst/>
              <a:rect l="l" t="t" r="r" b="b"/>
              <a:pathLst>
                <a:path w="17750118" h="13711966">
                  <a:moveTo>
                    <a:pt x="0" y="0"/>
                  </a:moveTo>
                  <a:lnTo>
                    <a:pt x="17750118" y="0"/>
                  </a:lnTo>
                  <a:lnTo>
                    <a:pt x="17750118" y="13711966"/>
                  </a:lnTo>
                  <a:lnTo>
                    <a:pt x="0" y="13711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>
              <a:off x="777253" y="616144"/>
              <a:ext cx="9313341" cy="985065"/>
            </a:xfrm>
            <a:custGeom>
              <a:avLst/>
              <a:gdLst/>
              <a:ahLst/>
              <a:cxnLst/>
              <a:rect l="l" t="t" r="r" b="b"/>
              <a:pathLst>
                <a:path w="9313341" h="985065">
                  <a:moveTo>
                    <a:pt x="0" y="0"/>
                  </a:moveTo>
                  <a:lnTo>
                    <a:pt x="9313342" y="0"/>
                  </a:lnTo>
                  <a:lnTo>
                    <a:pt x="9313342" y="985065"/>
                  </a:lnTo>
                  <a:lnTo>
                    <a:pt x="0" y="9850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  <p:sp>
          <p:nvSpPr>
            <p:cNvPr id="5" name="Freeform 5"/>
            <p:cNvSpPr/>
            <p:nvPr/>
          </p:nvSpPr>
          <p:spPr>
            <a:xfrm>
              <a:off x="777253" y="13401347"/>
              <a:ext cx="16168531" cy="310619"/>
            </a:xfrm>
            <a:custGeom>
              <a:avLst/>
              <a:gdLst/>
              <a:ahLst/>
              <a:cxnLst/>
              <a:rect l="l" t="t" r="r" b="b"/>
              <a:pathLst>
                <a:path w="16168531" h="310619">
                  <a:moveTo>
                    <a:pt x="0" y="0"/>
                  </a:moveTo>
                  <a:lnTo>
                    <a:pt x="16168531" y="0"/>
                  </a:lnTo>
                  <a:lnTo>
                    <a:pt x="16168531" y="310619"/>
                  </a:lnTo>
                  <a:lnTo>
                    <a:pt x="0" y="310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1" name="TextBox 3">
            <a:extLst>
              <a:ext uri="{FF2B5EF4-FFF2-40B4-BE49-F238E27FC236}">
                <a16:creationId xmlns:a16="http://schemas.microsoft.com/office/drawing/2014/main" id="{EA22F396-4286-4590-8BF9-0639630495FE}"/>
              </a:ext>
            </a:extLst>
          </p:cNvPr>
          <p:cNvSpPr txBox="1"/>
          <p:nvPr/>
        </p:nvSpPr>
        <p:spPr>
          <a:xfrm>
            <a:off x="914400" y="1280738"/>
            <a:ext cx="9919548" cy="10417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264"/>
              </a:lnSpc>
              <a:spcBef>
                <a:spcPct val="0"/>
              </a:spcBef>
            </a:pPr>
            <a:r>
              <a:rPr lang="en-US" sz="4400" b="1" dirty="0">
                <a:latin typeface="Gilroy Bold"/>
                <a:ea typeface="Gilroy Bold"/>
                <a:cs typeface="Gilroy Bold"/>
                <a:sym typeface="Gilroy Bold"/>
              </a:rPr>
              <a:t>3.REPORTE POR MICRORREGIÓN</a:t>
            </a: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524D94FD-C58F-494F-B9C6-6D057BCFDAB1}"/>
              </a:ext>
            </a:extLst>
          </p:cNvPr>
          <p:cNvSpPr txBox="1"/>
          <p:nvPr/>
        </p:nvSpPr>
        <p:spPr>
          <a:xfrm>
            <a:off x="1143000" y="2402327"/>
            <a:ext cx="4038600" cy="6323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59"/>
              </a:lnSpc>
            </a:pPr>
            <a:r>
              <a:rPr lang="en-US" sz="2800" dirty="0">
                <a:latin typeface="Gilroy Bold" panose="020B0604020202020204" charset="0"/>
                <a:ea typeface="Gilroy"/>
                <a:cs typeface="Gilroy"/>
                <a:sym typeface="Gilroy"/>
              </a:rPr>
              <a:t>MR3 CHIGNAHUAPAN</a:t>
            </a:r>
          </a:p>
        </p:txBody>
      </p:sp>
      <p:sp>
        <p:nvSpPr>
          <p:cNvPr id="27" name="TextBox 5">
            <a:extLst>
              <a:ext uri="{FF2B5EF4-FFF2-40B4-BE49-F238E27FC236}">
                <a16:creationId xmlns:a16="http://schemas.microsoft.com/office/drawing/2014/main" id="{F1DEBECB-E19E-4FCB-A46C-AB8DFE8E0874}"/>
              </a:ext>
            </a:extLst>
          </p:cNvPr>
          <p:cNvSpPr txBox="1"/>
          <p:nvPr/>
        </p:nvSpPr>
        <p:spPr>
          <a:xfrm>
            <a:off x="6324600" y="8994062"/>
            <a:ext cx="6754212" cy="6277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Semana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1 al 6 de </a:t>
            </a: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febrero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de 2026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710E9CAF-FA72-4AB5-9471-D5D48EC424CE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18483" y="388200"/>
            <a:ext cx="2913523" cy="216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1169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2"/>
            <a:ext cx="13716000" cy="10283975"/>
            <a:chOff x="0" y="0"/>
            <a:chExt cx="17750118" cy="137119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750118" cy="13711966"/>
            </a:xfrm>
            <a:custGeom>
              <a:avLst/>
              <a:gdLst/>
              <a:ahLst/>
              <a:cxnLst/>
              <a:rect l="l" t="t" r="r" b="b"/>
              <a:pathLst>
                <a:path w="17750118" h="13711966">
                  <a:moveTo>
                    <a:pt x="0" y="0"/>
                  </a:moveTo>
                  <a:lnTo>
                    <a:pt x="17750118" y="0"/>
                  </a:lnTo>
                  <a:lnTo>
                    <a:pt x="17750118" y="13711966"/>
                  </a:lnTo>
                  <a:lnTo>
                    <a:pt x="0" y="13711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>
              <a:off x="777253" y="616144"/>
              <a:ext cx="9313341" cy="985065"/>
            </a:xfrm>
            <a:custGeom>
              <a:avLst/>
              <a:gdLst/>
              <a:ahLst/>
              <a:cxnLst/>
              <a:rect l="l" t="t" r="r" b="b"/>
              <a:pathLst>
                <a:path w="9313341" h="985065">
                  <a:moveTo>
                    <a:pt x="0" y="0"/>
                  </a:moveTo>
                  <a:lnTo>
                    <a:pt x="9313342" y="0"/>
                  </a:lnTo>
                  <a:lnTo>
                    <a:pt x="9313342" y="985065"/>
                  </a:lnTo>
                  <a:lnTo>
                    <a:pt x="0" y="9850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  <p:sp>
          <p:nvSpPr>
            <p:cNvPr id="5" name="Freeform 5"/>
            <p:cNvSpPr/>
            <p:nvPr/>
          </p:nvSpPr>
          <p:spPr>
            <a:xfrm>
              <a:off x="777253" y="13401347"/>
              <a:ext cx="16168531" cy="310619"/>
            </a:xfrm>
            <a:custGeom>
              <a:avLst/>
              <a:gdLst/>
              <a:ahLst/>
              <a:cxnLst/>
              <a:rect l="l" t="t" r="r" b="b"/>
              <a:pathLst>
                <a:path w="16168531" h="310619">
                  <a:moveTo>
                    <a:pt x="0" y="0"/>
                  </a:moveTo>
                  <a:lnTo>
                    <a:pt x="16168531" y="0"/>
                  </a:lnTo>
                  <a:lnTo>
                    <a:pt x="16168531" y="310619"/>
                  </a:lnTo>
                  <a:lnTo>
                    <a:pt x="0" y="310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1" name="TextBox 3">
            <a:extLst>
              <a:ext uri="{FF2B5EF4-FFF2-40B4-BE49-F238E27FC236}">
                <a16:creationId xmlns:a16="http://schemas.microsoft.com/office/drawing/2014/main" id="{EA22F396-4286-4590-8BF9-0639630495FE}"/>
              </a:ext>
            </a:extLst>
          </p:cNvPr>
          <p:cNvSpPr txBox="1"/>
          <p:nvPr/>
        </p:nvSpPr>
        <p:spPr>
          <a:xfrm>
            <a:off x="914400" y="1280738"/>
            <a:ext cx="9919548" cy="10417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264"/>
              </a:lnSpc>
              <a:spcBef>
                <a:spcPct val="0"/>
              </a:spcBef>
            </a:pPr>
            <a:r>
              <a:rPr lang="en-US" sz="4400" b="1" dirty="0">
                <a:latin typeface="Gilroy Bold"/>
                <a:ea typeface="Gilroy Bold"/>
                <a:cs typeface="Gilroy Bold"/>
                <a:sym typeface="Gilroy Bold"/>
              </a:rPr>
              <a:t>3.REPORTE POR MICRORREGIÓN</a:t>
            </a: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524D94FD-C58F-494F-B9C6-6D057BCFDAB1}"/>
              </a:ext>
            </a:extLst>
          </p:cNvPr>
          <p:cNvSpPr txBox="1"/>
          <p:nvPr/>
        </p:nvSpPr>
        <p:spPr>
          <a:xfrm>
            <a:off x="1143000" y="2402327"/>
            <a:ext cx="4038600" cy="6323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59"/>
              </a:lnSpc>
            </a:pPr>
            <a:r>
              <a:rPr lang="en-US" sz="2800" dirty="0">
                <a:latin typeface="Gilroy Bold" panose="020B0604020202020204" charset="0"/>
                <a:ea typeface="Gilroy"/>
                <a:cs typeface="Gilroy"/>
                <a:sym typeface="Gilroy"/>
              </a:rPr>
              <a:t>MR4 ZACAPOAXTLA </a:t>
            </a:r>
          </a:p>
        </p:txBody>
      </p:sp>
      <p:sp>
        <p:nvSpPr>
          <p:cNvPr id="27" name="TextBox 5">
            <a:extLst>
              <a:ext uri="{FF2B5EF4-FFF2-40B4-BE49-F238E27FC236}">
                <a16:creationId xmlns:a16="http://schemas.microsoft.com/office/drawing/2014/main" id="{F1DEBECB-E19E-4FCB-A46C-AB8DFE8E0874}"/>
              </a:ext>
            </a:extLst>
          </p:cNvPr>
          <p:cNvSpPr txBox="1"/>
          <p:nvPr/>
        </p:nvSpPr>
        <p:spPr>
          <a:xfrm>
            <a:off x="6324600" y="8994062"/>
            <a:ext cx="6754212" cy="6277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Semana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1 al 6 de </a:t>
            </a: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febrero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de 2026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1E8CDA9A-E0C3-4028-9707-CFE522211D81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76148" y="342900"/>
            <a:ext cx="1439248" cy="2362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23745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2"/>
            <a:ext cx="13716000" cy="10283975"/>
            <a:chOff x="0" y="0"/>
            <a:chExt cx="17750118" cy="137119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750118" cy="13711966"/>
            </a:xfrm>
            <a:custGeom>
              <a:avLst/>
              <a:gdLst/>
              <a:ahLst/>
              <a:cxnLst/>
              <a:rect l="l" t="t" r="r" b="b"/>
              <a:pathLst>
                <a:path w="17750118" h="13711966">
                  <a:moveTo>
                    <a:pt x="0" y="0"/>
                  </a:moveTo>
                  <a:lnTo>
                    <a:pt x="17750118" y="0"/>
                  </a:lnTo>
                  <a:lnTo>
                    <a:pt x="17750118" y="13711966"/>
                  </a:lnTo>
                  <a:lnTo>
                    <a:pt x="0" y="13711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>
              <a:off x="777253" y="616144"/>
              <a:ext cx="9313341" cy="985065"/>
            </a:xfrm>
            <a:custGeom>
              <a:avLst/>
              <a:gdLst/>
              <a:ahLst/>
              <a:cxnLst/>
              <a:rect l="l" t="t" r="r" b="b"/>
              <a:pathLst>
                <a:path w="9313341" h="985065">
                  <a:moveTo>
                    <a:pt x="0" y="0"/>
                  </a:moveTo>
                  <a:lnTo>
                    <a:pt x="9313342" y="0"/>
                  </a:lnTo>
                  <a:lnTo>
                    <a:pt x="9313342" y="985065"/>
                  </a:lnTo>
                  <a:lnTo>
                    <a:pt x="0" y="9850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  <p:sp>
          <p:nvSpPr>
            <p:cNvPr id="5" name="Freeform 5"/>
            <p:cNvSpPr/>
            <p:nvPr/>
          </p:nvSpPr>
          <p:spPr>
            <a:xfrm>
              <a:off x="777253" y="13401347"/>
              <a:ext cx="16168531" cy="310619"/>
            </a:xfrm>
            <a:custGeom>
              <a:avLst/>
              <a:gdLst/>
              <a:ahLst/>
              <a:cxnLst/>
              <a:rect l="l" t="t" r="r" b="b"/>
              <a:pathLst>
                <a:path w="16168531" h="310619">
                  <a:moveTo>
                    <a:pt x="0" y="0"/>
                  </a:moveTo>
                  <a:lnTo>
                    <a:pt x="16168531" y="0"/>
                  </a:lnTo>
                  <a:lnTo>
                    <a:pt x="16168531" y="310619"/>
                  </a:lnTo>
                  <a:lnTo>
                    <a:pt x="0" y="310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1" name="TextBox 3">
            <a:extLst>
              <a:ext uri="{FF2B5EF4-FFF2-40B4-BE49-F238E27FC236}">
                <a16:creationId xmlns:a16="http://schemas.microsoft.com/office/drawing/2014/main" id="{EA22F396-4286-4590-8BF9-0639630495FE}"/>
              </a:ext>
            </a:extLst>
          </p:cNvPr>
          <p:cNvSpPr txBox="1"/>
          <p:nvPr/>
        </p:nvSpPr>
        <p:spPr>
          <a:xfrm>
            <a:off x="914400" y="1280738"/>
            <a:ext cx="9919548" cy="10417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264"/>
              </a:lnSpc>
              <a:spcBef>
                <a:spcPct val="0"/>
              </a:spcBef>
            </a:pPr>
            <a:r>
              <a:rPr lang="en-US" sz="4400" b="1" dirty="0">
                <a:latin typeface="Gilroy Bold"/>
                <a:ea typeface="Gilroy Bold"/>
                <a:cs typeface="Gilroy Bold"/>
                <a:sym typeface="Gilroy Bold"/>
              </a:rPr>
              <a:t>3.REPORTE POR MICRORREGIÓN</a:t>
            </a: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524D94FD-C58F-494F-B9C6-6D057BCFDAB1}"/>
              </a:ext>
            </a:extLst>
          </p:cNvPr>
          <p:cNvSpPr txBox="1"/>
          <p:nvPr/>
        </p:nvSpPr>
        <p:spPr>
          <a:xfrm>
            <a:off x="1143000" y="2402327"/>
            <a:ext cx="4038600" cy="6323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59"/>
              </a:lnSpc>
            </a:pPr>
            <a:r>
              <a:rPr lang="en-US" sz="2800" dirty="0">
                <a:latin typeface="Gilroy Bold" panose="020B0604020202020204" charset="0"/>
                <a:ea typeface="Gilroy"/>
                <a:cs typeface="Gilroy"/>
                <a:sym typeface="Gilroy"/>
              </a:rPr>
              <a:t>MR5 LIBRES</a:t>
            </a:r>
          </a:p>
        </p:txBody>
      </p:sp>
      <p:sp>
        <p:nvSpPr>
          <p:cNvPr id="27" name="TextBox 5">
            <a:extLst>
              <a:ext uri="{FF2B5EF4-FFF2-40B4-BE49-F238E27FC236}">
                <a16:creationId xmlns:a16="http://schemas.microsoft.com/office/drawing/2014/main" id="{F1DEBECB-E19E-4FCB-A46C-AB8DFE8E0874}"/>
              </a:ext>
            </a:extLst>
          </p:cNvPr>
          <p:cNvSpPr txBox="1"/>
          <p:nvPr/>
        </p:nvSpPr>
        <p:spPr>
          <a:xfrm>
            <a:off x="6324600" y="8994062"/>
            <a:ext cx="6754212" cy="6277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Semana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1 al 6 de </a:t>
            </a: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febrero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de 2026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6286C5AF-46B6-4F7E-96AD-2D550746D87E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20470" y="251379"/>
            <a:ext cx="2109008" cy="2232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58447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2"/>
            <a:ext cx="13716000" cy="10283975"/>
            <a:chOff x="0" y="0"/>
            <a:chExt cx="17750118" cy="137119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750118" cy="13711966"/>
            </a:xfrm>
            <a:custGeom>
              <a:avLst/>
              <a:gdLst/>
              <a:ahLst/>
              <a:cxnLst/>
              <a:rect l="l" t="t" r="r" b="b"/>
              <a:pathLst>
                <a:path w="17750118" h="13711966">
                  <a:moveTo>
                    <a:pt x="0" y="0"/>
                  </a:moveTo>
                  <a:lnTo>
                    <a:pt x="17750118" y="0"/>
                  </a:lnTo>
                  <a:lnTo>
                    <a:pt x="17750118" y="13711966"/>
                  </a:lnTo>
                  <a:lnTo>
                    <a:pt x="0" y="13711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>
              <a:off x="777253" y="616144"/>
              <a:ext cx="9313341" cy="985065"/>
            </a:xfrm>
            <a:custGeom>
              <a:avLst/>
              <a:gdLst/>
              <a:ahLst/>
              <a:cxnLst/>
              <a:rect l="l" t="t" r="r" b="b"/>
              <a:pathLst>
                <a:path w="9313341" h="985065">
                  <a:moveTo>
                    <a:pt x="0" y="0"/>
                  </a:moveTo>
                  <a:lnTo>
                    <a:pt x="9313342" y="0"/>
                  </a:lnTo>
                  <a:lnTo>
                    <a:pt x="9313342" y="985065"/>
                  </a:lnTo>
                  <a:lnTo>
                    <a:pt x="0" y="9850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  <p:sp>
          <p:nvSpPr>
            <p:cNvPr id="5" name="Freeform 5"/>
            <p:cNvSpPr/>
            <p:nvPr/>
          </p:nvSpPr>
          <p:spPr>
            <a:xfrm>
              <a:off x="777253" y="13401347"/>
              <a:ext cx="16168531" cy="310619"/>
            </a:xfrm>
            <a:custGeom>
              <a:avLst/>
              <a:gdLst/>
              <a:ahLst/>
              <a:cxnLst/>
              <a:rect l="l" t="t" r="r" b="b"/>
              <a:pathLst>
                <a:path w="16168531" h="310619">
                  <a:moveTo>
                    <a:pt x="0" y="0"/>
                  </a:moveTo>
                  <a:lnTo>
                    <a:pt x="16168531" y="0"/>
                  </a:lnTo>
                  <a:lnTo>
                    <a:pt x="16168531" y="310619"/>
                  </a:lnTo>
                  <a:lnTo>
                    <a:pt x="0" y="310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1" name="TextBox 3">
            <a:extLst>
              <a:ext uri="{FF2B5EF4-FFF2-40B4-BE49-F238E27FC236}">
                <a16:creationId xmlns:a16="http://schemas.microsoft.com/office/drawing/2014/main" id="{EA22F396-4286-4590-8BF9-0639630495FE}"/>
              </a:ext>
            </a:extLst>
          </p:cNvPr>
          <p:cNvSpPr txBox="1"/>
          <p:nvPr/>
        </p:nvSpPr>
        <p:spPr>
          <a:xfrm>
            <a:off x="914400" y="1280738"/>
            <a:ext cx="9919548" cy="10417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264"/>
              </a:lnSpc>
              <a:spcBef>
                <a:spcPct val="0"/>
              </a:spcBef>
            </a:pPr>
            <a:r>
              <a:rPr lang="en-US" sz="4400" b="1" dirty="0">
                <a:latin typeface="Gilroy Bold"/>
                <a:ea typeface="Gilroy Bold"/>
                <a:cs typeface="Gilroy Bold"/>
                <a:sym typeface="Gilroy Bold"/>
              </a:rPr>
              <a:t>3.REPORTE POR MICRORREGIÓN</a:t>
            </a: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524D94FD-C58F-494F-B9C6-6D057BCFDAB1}"/>
              </a:ext>
            </a:extLst>
          </p:cNvPr>
          <p:cNvSpPr txBox="1"/>
          <p:nvPr/>
        </p:nvSpPr>
        <p:spPr>
          <a:xfrm>
            <a:off x="1143000" y="2402327"/>
            <a:ext cx="4038600" cy="6323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59"/>
              </a:lnSpc>
            </a:pPr>
            <a:r>
              <a:rPr lang="en-US" sz="2800" dirty="0">
                <a:latin typeface="Gilroy Bold" panose="020B0604020202020204" charset="0"/>
                <a:ea typeface="Gilroy"/>
                <a:cs typeface="Gilroy"/>
                <a:sym typeface="Gilroy"/>
              </a:rPr>
              <a:t>MR6 TEZIUTLÁN</a:t>
            </a:r>
          </a:p>
        </p:txBody>
      </p:sp>
      <p:sp>
        <p:nvSpPr>
          <p:cNvPr id="27" name="TextBox 5">
            <a:extLst>
              <a:ext uri="{FF2B5EF4-FFF2-40B4-BE49-F238E27FC236}">
                <a16:creationId xmlns:a16="http://schemas.microsoft.com/office/drawing/2014/main" id="{F1DEBECB-E19E-4FCB-A46C-AB8DFE8E0874}"/>
              </a:ext>
            </a:extLst>
          </p:cNvPr>
          <p:cNvSpPr txBox="1"/>
          <p:nvPr/>
        </p:nvSpPr>
        <p:spPr>
          <a:xfrm>
            <a:off x="6324600" y="8994062"/>
            <a:ext cx="6754212" cy="6277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Semana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1 al 6 de </a:t>
            </a: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febrero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de 2026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AA4954AD-81BE-4FDC-AC61-12A3992B3F71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76948" y="275836"/>
            <a:ext cx="1408999" cy="2470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25132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2"/>
            <a:ext cx="13716000" cy="10283975"/>
            <a:chOff x="0" y="0"/>
            <a:chExt cx="17750118" cy="137119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750118" cy="13711966"/>
            </a:xfrm>
            <a:custGeom>
              <a:avLst/>
              <a:gdLst/>
              <a:ahLst/>
              <a:cxnLst/>
              <a:rect l="l" t="t" r="r" b="b"/>
              <a:pathLst>
                <a:path w="17750118" h="13711966">
                  <a:moveTo>
                    <a:pt x="0" y="0"/>
                  </a:moveTo>
                  <a:lnTo>
                    <a:pt x="17750118" y="0"/>
                  </a:lnTo>
                  <a:lnTo>
                    <a:pt x="17750118" y="13711966"/>
                  </a:lnTo>
                  <a:lnTo>
                    <a:pt x="0" y="13711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>
              <a:off x="777253" y="616144"/>
              <a:ext cx="9313341" cy="985065"/>
            </a:xfrm>
            <a:custGeom>
              <a:avLst/>
              <a:gdLst/>
              <a:ahLst/>
              <a:cxnLst/>
              <a:rect l="l" t="t" r="r" b="b"/>
              <a:pathLst>
                <a:path w="9313341" h="985065">
                  <a:moveTo>
                    <a:pt x="0" y="0"/>
                  </a:moveTo>
                  <a:lnTo>
                    <a:pt x="9313342" y="0"/>
                  </a:lnTo>
                  <a:lnTo>
                    <a:pt x="9313342" y="985065"/>
                  </a:lnTo>
                  <a:lnTo>
                    <a:pt x="0" y="9850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  <p:sp>
          <p:nvSpPr>
            <p:cNvPr id="5" name="Freeform 5"/>
            <p:cNvSpPr/>
            <p:nvPr/>
          </p:nvSpPr>
          <p:spPr>
            <a:xfrm>
              <a:off x="777253" y="13401347"/>
              <a:ext cx="16168531" cy="310619"/>
            </a:xfrm>
            <a:custGeom>
              <a:avLst/>
              <a:gdLst/>
              <a:ahLst/>
              <a:cxnLst/>
              <a:rect l="l" t="t" r="r" b="b"/>
              <a:pathLst>
                <a:path w="16168531" h="310619">
                  <a:moveTo>
                    <a:pt x="0" y="0"/>
                  </a:moveTo>
                  <a:lnTo>
                    <a:pt x="16168531" y="0"/>
                  </a:lnTo>
                  <a:lnTo>
                    <a:pt x="16168531" y="310619"/>
                  </a:lnTo>
                  <a:lnTo>
                    <a:pt x="0" y="310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1" name="TextBox 3">
            <a:extLst>
              <a:ext uri="{FF2B5EF4-FFF2-40B4-BE49-F238E27FC236}">
                <a16:creationId xmlns:a16="http://schemas.microsoft.com/office/drawing/2014/main" id="{EA22F396-4286-4590-8BF9-0639630495FE}"/>
              </a:ext>
            </a:extLst>
          </p:cNvPr>
          <p:cNvSpPr txBox="1"/>
          <p:nvPr/>
        </p:nvSpPr>
        <p:spPr>
          <a:xfrm>
            <a:off x="914400" y="1280738"/>
            <a:ext cx="9919548" cy="10417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264"/>
              </a:lnSpc>
              <a:spcBef>
                <a:spcPct val="0"/>
              </a:spcBef>
            </a:pPr>
            <a:r>
              <a:rPr lang="en-US" sz="4400" b="1" dirty="0">
                <a:latin typeface="Gilroy Bold"/>
                <a:ea typeface="Gilroy Bold"/>
                <a:cs typeface="Gilroy Bold"/>
                <a:sym typeface="Gilroy Bold"/>
              </a:rPr>
              <a:t>3.REPORTE POR MICRORREGIÓN</a:t>
            </a: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524D94FD-C58F-494F-B9C6-6D057BCFDAB1}"/>
              </a:ext>
            </a:extLst>
          </p:cNvPr>
          <p:cNvSpPr txBox="1"/>
          <p:nvPr/>
        </p:nvSpPr>
        <p:spPr>
          <a:xfrm>
            <a:off x="1143000" y="2402327"/>
            <a:ext cx="6553200" cy="6323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59"/>
              </a:lnSpc>
            </a:pPr>
            <a:r>
              <a:rPr lang="en-US" sz="2800" dirty="0">
                <a:latin typeface="Gilroy Bold" panose="020B0604020202020204" charset="0"/>
                <a:ea typeface="Gilroy"/>
                <a:cs typeface="Gilroy"/>
                <a:sym typeface="Gilroy"/>
              </a:rPr>
              <a:t>MR7 SAN MARTÍN TEXMELUCAN</a:t>
            </a:r>
          </a:p>
        </p:txBody>
      </p:sp>
      <p:sp>
        <p:nvSpPr>
          <p:cNvPr id="27" name="TextBox 5">
            <a:extLst>
              <a:ext uri="{FF2B5EF4-FFF2-40B4-BE49-F238E27FC236}">
                <a16:creationId xmlns:a16="http://schemas.microsoft.com/office/drawing/2014/main" id="{F1DEBECB-E19E-4FCB-A46C-AB8DFE8E0874}"/>
              </a:ext>
            </a:extLst>
          </p:cNvPr>
          <p:cNvSpPr txBox="1"/>
          <p:nvPr/>
        </p:nvSpPr>
        <p:spPr>
          <a:xfrm>
            <a:off x="6324600" y="8994062"/>
            <a:ext cx="6754212" cy="6277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Semana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1 al 6 de </a:t>
            </a: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febrero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de 2026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60B242D6-AC18-4AA6-B2C3-F6CEFE53578A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85541" y="544599"/>
            <a:ext cx="1978866" cy="2173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24646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2"/>
            <a:ext cx="13716000" cy="10283975"/>
            <a:chOff x="0" y="0"/>
            <a:chExt cx="17750118" cy="137119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750118" cy="13711966"/>
            </a:xfrm>
            <a:custGeom>
              <a:avLst/>
              <a:gdLst/>
              <a:ahLst/>
              <a:cxnLst/>
              <a:rect l="l" t="t" r="r" b="b"/>
              <a:pathLst>
                <a:path w="17750118" h="13711966">
                  <a:moveTo>
                    <a:pt x="0" y="0"/>
                  </a:moveTo>
                  <a:lnTo>
                    <a:pt x="17750118" y="0"/>
                  </a:lnTo>
                  <a:lnTo>
                    <a:pt x="17750118" y="13711966"/>
                  </a:lnTo>
                  <a:lnTo>
                    <a:pt x="0" y="13711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>
              <a:off x="777253" y="616144"/>
              <a:ext cx="9313341" cy="985065"/>
            </a:xfrm>
            <a:custGeom>
              <a:avLst/>
              <a:gdLst/>
              <a:ahLst/>
              <a:cxnLst/>
              <a:rect l="l" t="t" r="r" b="b"/>
              <a:pathLst>
                <a:path w="9313341" h="985065">
                  <a:moveTo>
                    <a:pt x="0" y="0"/>
                  </a:moveTo>
                  <a:lnTo>
                    <a:pt x="9313342" y="0"/>
                  </a:lnTo>
                  <a:lnTo>
                    <a:pt x="9313342" y="985065"/>
                  </a:lnTo>
                  <a:lnTo>
                    <a:pt x="0" y="9850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  <p:sp>
          <p:nvSpPr>
            <p:cNvPr id="5" name="Freeform 5"/>
            <p:cNvSpPr/>
            <p:nvPr/>
          </p:nvSpPr>
          <p:spPr>
            <a:xfrm>
              <a:off x="777253" y="13401347"/>
              <a:ext cx="16168531" cy="310619"/>
            </a:xfrm>
            <a:custGeom>
              <a:avLst/>
              <a:gdLst/>
              <a:ahLst/>
              <a:cxnLst/>
              <a:rect l="l" t="t" r="r" b="b"/>
              <a:pathLst>
                <a:path w="16168531" h="310619">
                  <a:moveTo>
                    <a:pt x="0" y="0"/>
                  </a:moveTo>
                  <a:lnTo>
                    <a:pt x="16168531" y="0"/>
                  </a:lnTo>
                  <a:lnTo>
                    <a:pt x="16168531" y="310619"/>
                  </a:lnTo>
                  <a:lnTo>
                    <a:pt x="0" y="310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1" name="TextBox 3">
            <a:extLst>
              <a:ext uri="{FF2B5EF4-FFF2-40B4-BE49-F238E27FC236}">
                <a16:creationId xmlns:a16="http://schemas.microsoft.com/office/drawing/2014/main" id="{EA22F396-4286-4590-8BF9-0639630495FE}"/>
              </a:ext>
            </a:extLst>
          </p:cNvPr>
          <p:cNvSpPr txBox="1"/>
          <p:nvPr/>
        </p:nvSpPr>
        <p:spPr>
          <a:xfrm>
            <a:off x="914400" y="1280738"/>
            <a:ext cx="9919548" cy="10417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264"/>
              </a:lnSpc>
              <a:spcBef>
                <a:spcPct val="0"/>
              </a:spcBef>
            </a:pPr>
            <a:r>
              <a:rPr lang="en-US" sz="4400" b="1" dirty="0">
                <a:latin typeface="Gilroy Bold"/>
                <a:ea typeface="Gilroy Bold"/>
                <a:cs typeface="Gilroy Bold"/>
                <a:sym typeface="Gilroy Bold"/>
              </a:rPr>
              <a:t>3.REPORTE POR MICRORREGIÓN</a:t>
            </a: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524D94FD-C58F-494F-B9C6-6D057BCFDAB1}"/>
              </a:ext>
            </a:extLst>
          </p:cNvPr>
          <p:cNvSpPr txBox="1"/>
          <p:nvPr/>
        </p:nvSpPr>
        <p:spPr>
          <a:xfrm>
            <a:off x="1143000" y="2402327"/>
            <a:ext cx="4953000" cy="6323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59"/>
              </a:lnSpc>
            </a:pPr>
            <a:r>
              <a:rPr lang="en-US" sz="2800" dirty="0">
                <a:latin typeface="Gilroy Bold" panose="020B0604020202020204" charset="0"/>
                <a:ea typeface="Gilroy"/>
                <a:cs typeface="Gilroy"/>
                <a:sym typeface="Gilroy"/>
              </a:rPr>
              <a:t>MR8 HUEJOTZINGO</a:t>
            </a:r>
          </a:p>
        </p:txBody>
      </p:sp>
      <p:sp>
        <p:nvSpPr>
          <p:cNvPr id="27" name="TextBox 5">
            <a:extLst>
              <a:ext uri="{FF2B5EF4-FFF2-40B4-BE49-F238E27FC236}">
                <a16:creationId xmlns:a16="http://schemas.microsoft.com/office/drawing/2014/main" id="{F1DEBECB-E19E-4FCB-A46C-AB8DFE8E0874}"/>
              </a:ext>
            </a:extLst>
          </p:cNvPr>
          <p:cNvSpPr txBox="1"/>
          <p:nvPr/>
        </p:nvSpPr>
        <p:spPr>
          <a:xfrm>
            <a:off x="6324600" y="8994062"/>
            <a:ext cx="6754212" cy="6277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Semana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1 al 6 de </a:t>
            </a: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febrero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de 2026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1977E1D1-6CB9-40F1-A462-A3D2D85AD7E8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1556" y="665203"/>
            <a:ext cx="3017256" cy="1354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7849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2"/>
            <a:ext cx="13716000" cy="10283975"/>
            <a:chOff x="0" y="0"/>
            <a:chExt cx="17750118" cy="137119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750118" cy="13711966"/>
            </a:xfrm>
            <a:custGeom>
              <a:avLst/>
              <a:gdLst/>
              <a:ahLst/>
              <a:cxnLst/>
              <a:rect l="l" t="t" r="r" b="b"/>
              <a:pathLst>
                <a:path w="17750118" h="13711966">
                  <a:moveTo>
                    <a:pt x="0" y="0"/>
                  </a:moveTo>
                  <a:lnTo>
                    <a:pt x="17750118" y="0"/>
                  </a:lnTo>
                  <a:lnTo>
                    <a:pt x="17750118" y="13711966"/>
                  </a:lnTo>
                  <a:lnTo>
                    <a:pt x="0" y="13711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>
              <a:off x="777253" y="616144"/>
              <a:ext cx="9313341" cy="985065"/>
            </a:xfrm>
            <a:custGeom>
              <a:avLst/>
              <a:gdLst/>
              <a:ahLst/>
              <a:cxnLst/>
              <a:rect l="l" t="t" r="r" b="b"/>
              <a:pathLst>
                <a:path w="9313341" h="985065">
                  <a:moveTo>
                    <a:pt x="0" y="0"/>
                  </a:moveTo>
                  <a:lnTo>
                    <a:pt x="9313342" y="0"/>
                  </a:lnTo>
                  <a:lnTo>
                    <a:pt x="9313342" y="985065"/>
                  </a:lnTo>
                  <a:lnTo>
                    <a:pt x="0" y="9850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  <p:sp>
          <p:nvSpPr>
            <p:cNvPr id="5" name="Freeform 5"/>
            <p:cNvSpPr/>
            <p:nvPr/>
          </p:nvSpPr>
          <p:spPr>
            <a:xfrm>
              <a:off x="777253" y="13401347"/>
              <a:ext cx="16168531" cy="310619"/>
            </a:xfrm>
            <a:custGeom>
              <a:avLst/>
              <a:gdLst/>
              <a:ahLst/>
              <a:cxnLst/>
              <a:rect l="l" t="t" r="r" b="b"/>
              <a:pathLst>
                <a:path w="16168531" h="310619">
                  <a:moveTo>
                    <a:pt x="0" y="0"/>
                  </a:moveTo>
                  <a:lnTo>
                    <a:pt x="16168531" y="0"/>
                  </a:lnTo>
                  <a:lnTo>
                    <a:pt x="16168531" y="310619"/>
                  </a:lnTo>
                  <a:lnTo>
                    <a:pt x="0" y="310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1" name="TextBox 3">
            <a:extLst>
              <a:ext uri="{FF2B5EF4-FFF2-40B4-BE49-F238E27FC236}">
                <a16:creationId xmlns:a16="http://schemas.microsoft.com/office/drawing/2014/main" id="{EA22F396-4286-4590-8BF9-0639630495FE}"/>
              </a:ext>
            </a:extLst>
          </p:cNvPr>
          <p:cNvSpPr txBox="1"/>
          <p:nvPr/>
        </p:nvSpPr>
        <p:spPr>
          <a:xfrm>
            <a:off x="914400" y="1280738"/>
            <a:ext cx="9919548" cy="10417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264"/>
              </a:lnSpc>
              <a:spcBef>
                <a:spcPct val="0"/>
              </a:spcBef>
            </a:pPr>
            <a:r>
              <a:rPr lang="en-US" sz="4400" b="1" dirty="0">
                <a:latin typeface="Gilroy Bold"/>
                <a:ea typeface="Gilroy Bold"/>
                <a:cs typeface="Gilroy Bold"/>
                <a:sym typeface="Gilroy Bold"/>
              </a:rPr>
              <a:t>3.REPORTE POR MICRORREGIÓN</a:t>
            </a: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524D94FD-C58F-494F-B9C6-6D057BCFDAB1}"/>
              </a:ext>
            </a:extLst>
          </p:cNvPr>
          <p:cNvSpPr txBox="1"/>
          <p:nvPr/>
        </p:nvSpPr>
        <p:spPr>
          <a:xfrm>
            <a:off x="1143000" y="2402327"/>
            <a:ext cx="4953000" cy="6323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59"/>
              </a:lnSpc>
            </a:pPr>
            <a:r>
              <a:rPr lang="en-US" sz="2800" dirty="0">
                <a:latin typeface="Gilroy Bold" panose="020B0604020202020204" charset="0"/>
                <a:ea typeface="Gilroy"/>
                <a:cs typeface="Gilroy"/>
                <a:sym typeface="Gilroy"/>
              </a:rPr>
              <a:t>MR9 PUEBLA</a:t>
            </a:r>
          </a:p>
        </p:txBody>
      </p:sp>
      <p:sp>
        <p:nvSpPr>
          <p:cNvPr id="27" name="TextBox 5">
            <a:extLst>
              <a:ext uri="{FF2B5EF4-FFF2-40B4-BE49-F238E27FC236}">
                <a16:creationId xmlns:a16="http://schemas.microsoft.com/office/drawing/2014/main" id="{F1DEBECB-E19E-4FCB-A46C-AB8DFE8E0874}"/>
              </a:ext>
            </a:extLst>
          </p:cNvPr>
          <p:cNvSpPr txBox="1"/>
          <p:nvPr/>
        </p:nvSpPr>
        <p:spPr>
          <a:xfrm>
            <a:off x="6324600" y="8994062"/>
            <a:ext cx="6754212" cy="6277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Semana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1 al 6 de </a:t>
            </a: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febrero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de 2026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945D4DC0-EF73-4D93-901E-FCA74E73B4DF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45143" y="426508"/>
            <a:ext cx="1874000" cy="1895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13246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2"/>
            <a:ext cx="13716000" cy="10283975"/>
            <a:chOff x="0" y="0"/>
            <a:chExt cx="17750118" cy="137119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750118" cy="13711966"/>
            </a:xfrm>
            <a:custGeom>
              <a:avLst/>
              <a:gdLst/>
              <a:ahLst/>
              <a:cxnLst/>
              <a:rect l="l" t="t" r="r" b="b"/>
              <a:pathLst>
                <a:path w="17750118" h="13711966">
                  <a:moveTo>
                    <a:pt x="0" y="0"/>
                  </a:moveTo>
                  <a:lnTo>
                    <a:pt x="17750118" y="0"/>
                  </a:lnTo>
                  <a:lnTo>
                    <a:pt x="17750118" y="13711966"/>
                  </a:lnTo>
                  <a:lnTo>
                    <a:pt x="0" y="13711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>
              <a:off x="777253" y="616144"/>
              <a:ext cx="9313341" cy="985065"/>
            </a:xfrm>
            <a:custGeom>
              <a:avLst/>
              <a:gdLst/>
              <a:ahLst/>
              <a:cxnLst/>
              <a:rect l="l" t="t" r="r" b="b"/>
              <a:pathLst>
                <a:path w="9313341" h="985065">
                  <a:moveTo>
                    <a:pt x="0" y="0"/>
                  </a:moveTo>
                  <a:lnTo>
                    <a:pt x="9313342" y="0"/>
                  </a:lnTo>
                  <a:lnTo>
                    <a:pt x="9313342" y="985065"/>
                  </a:lnTo>
                  <a:lnTo>
                    <a:pt x="0" y="9850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  <p:sp>
          <p:nvSpPr>
            <p:cNvPr id="5" name="Freeform 5"/>
            <p:cNvSpPr/>
            <p:nvPr/>
          </p:nvSpPr>
          <p:spPr>
            <a:xfrm>
              <a:off x="777253" y="13401347"/>
              <a:ext cx="16168531" cy="310619"/>
            </a:xfrm>
            <a:custGeom>
              <a:avLst/>
              <a:gdLst/>
              <a:ahLst/>
              <a:cxnLst/>
              <a:rect l="l" t="t" r="r" b="b"/>
              <a:pathLst>
                <a:path w="16168531" h="310619">
                  <a:moveTo>
                    <a:pt x="0" y="0"/>
                  </a:moveTo>
                  <a:lnTo>
                    <a:pt x="16168531" y="0"/>
                  </a:lnTo>
                  <a:lnTo>
                    <a:pt x="16168531" y="310619"/>
                  </a:lnTo>
                  <a:lnTo>
                    <a:pt x="0" y="310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1" name="TextBox 3">
            <a:extLst>
              <a:ext uri="{FF2B5EF4-FFF2-40B4-BE49-F238E27FC236}">
                <a16:creationId xmlns:a16="http://schemas.microsoft.com/office/drawing/2014/main" id="{EA22F396-4286-4590-8BF9-0639630495FE}"/>
              </a:ext>
            </a:extLst>
          </p:cNvPr>
          <p:cNvSpPr txBox="1"/>
          <p:nvPr/>
        </p:nvSpPr>
        <p:spPr>
          <a:xfrm>
            <a:off x="914400" y="1280738"/>
            <a:ext cx="9919548" cy="10417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264"/>
              </a:lnSpc>
              <a:spcBef>
                <a:spcPct val="0"/>
              </a:spcBef>
            </a:pPr>
            <a:r>
              <a:rPr lang="en-US" sz="4400" b="1" dirty="0">
                <a:latin typeface="Gilroy Bold"/>
                <a:ea typeface="Gilroy Bold"/>
                <a:cs typeface="Gilroy Bold"/>
                <a:sym typeface="Gilroy Bold"/>
              </a:rPr>
              <a:t>3.REPORTE POR MICRORREGIÓN</a:t>
            </a: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524D94FD-C58F-494F-B9C6-6D057BCFDAB1}"/>
              </a:ext>
            </a:extLst>
          </p:cNvPr>
          <p:cNvSpPr txBox="1"/>
          <p:nvPr/>
        </p:nvSpPr>
        <p:spPr>
          <a:xfrm>
            <a:off x="1143000" y="2402327"/>
            <a:ext cx="4953000" cy="6323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59"/>
              </a:lnSpc>
            </a:pPr>
            <a:r>
              <a:rPr lang="en-US" sz="2800" dirty="0">
                <a:latin typeface="Gilroy Bold" panose="020B0604020202020204" charset="0"/>
                <a:ea typeface="Gilroy"/>
                <a:cs typeface="Gilroy"/>
                <a:sym typeface="Gilroy"/>
              </a:rPr>
              <a:t>MR10 PUEBLA</a:t>
            </a:r>
          </a:p>
        </p:txBody>
      </p:sp>
      <p:sp>
        <p:nvSpPr>
          <p:cNvPr id="27" name="TextBox 5">
            <a:extLst>
              <a:ext uri="{FF2B5EF4-FFF2-40B4-BE49-F238E27FC236}">
                <a16:creationId xmlns:a16="http://schemas.microsoft.com/office/drawing/2014/main" id="{F1DEBECB-E19E-4FCB-A46C-AB8DFE8E0874}"/>
              </a:ext>
            </a:extLst>
          </p:cNvPr>
          <p:cNvSpPr txBox="1"/>
          <p:nvPr/>
        </p:nvSpPr>
        <p:spPr>
          <a:xfrm>
            <a:off x="6324600" y="8994062"/>
            <a:ext cx="6754212" cy="6277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Semana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1 al 6 de </a:t>
            </a: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febrero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de 2026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5900E847-22DB-4CC8-B947-948CC552C727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07234" y="342900"/>
            <a:ext cx="1935480" cy="2213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38440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2"/>
            <a:ext cx="13716000" cy="10283975"/>
            <a:chOff x="0" y="0"/>
            <a:chExt cx="17750118" cy="137119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750118" cy="13711966"/>
            </a:xfrm>
            <a:custGeom>
              <a:avLst/>
              <a:gdLst/>
              <a:ahLst/>
              <a:cxnLst/>
              <a:rect l="l" t="t" r="r" b="b"/>
              <a:pathLst>
                <a:path w="17750118" h="13711966">
                  <a:moveTo>
                    <a:pt x="0" y="0"/>
                  </a:moveTo>
                  <a:lnTo>
                    <a:pt x="17750118" y="0"/>
                  </a:lnTo>
                  <a:lnTo>
                    <a:pt x="17750118" y="13711966"/>
                  </a:lnTo>
                  <a:lnTo>
                    <a:pt x="0" y="13711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>
              <a:off x="777253" y="616144"/>
              <a:ext cx="9313341" cy="985065"/>
            </a:xfrm>
            <a:custGeom>
              <a:avLst/>
              <a:gdLst/>
              <a:ahLst/>
              <a:cxnLst/>
              <a:rect l="l" t="t" r="r" b="b"/>
              <a:pathLst>
                <a:path w="9313341" h="985065">
                  <a:moveTo>
                    <a:pt x="0" y="0"/>
                  </a:moveTo>
                  <a:lnTo>
                    <a:pt x="9313342" y="0"/>
                  </a:lnTo>
                  <a:lnTo>
                    <a:pt x="9313342" y="985065"/>
                  </a:lnTo>
                  <a:lnTo>
                    <a:pt x="0" y="9850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  <p:sp>
          <p:nvSpPr>
            <p:cNvPr id="5" name="Freeform 5"/>
            <p:cNvSpPr/>
            <p:nvPr/>
          </p:nvSpPr>
          <p:spPr>
            <a:xfrm>
              <a:off x="777253" y="13401347"/>
              <a:ext cx="16168531" cy="310619"/>
            </a:xfrm>
            <a:custGeom>
              <a:avLst/>
              <a:gdLst/>
              <a:ahLst/>
              <a:cxnLst/>
              <a:rect l="l" t="t" r="r" b="b"/>
              <a:pathLst>
                <a:path w="16168531" h="310619">
                  <a:moveTo>
                    <a:pt x="0" y="0"/>
                  </a:moveTo>
                  <a:lnTo>
                    <a:pt x="16168531" y="0"/>
                  </a:lnTo>
                  <a:lnTo>
                    <a:pt x="16168531" y="310619"/>
                  </a:lnTo>
                  <a:lnTo>
                    <a:pt x="0" y="310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1" name="TextBox 3">
            <a:extLst>
              <a:ext uri="{FF2B5EF4-FFF2-40B4-BE49-F238E27FC236}">
                <a16:creationId xmlns:a16="http://schemas.microsoft.com/office/drawing/2014/main" id="{EA22F396-4286-4590-8BF9-0639630495FE}"/>
              </a:ext>
            </a:extLst>
          </p:cNvPr>
          <p:cNvSpPr txBox="1"/>
          <p:nvPr/>
        </p:nvSpPr>
        <p:spPr>
          <a:xfrm>
            <a:off x="914400" y="1280738"/>
            <a:ext cx="9919548" cy="10417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264"/>
              </a:lnSpc>
              <a:spcBef>
                <a:spcPct val="0"/>
              </a:spcBef>
            </a:pPr>
            <a:r>
              <a:rPr lang="en-US" sz="4400" b="1" dirty="0">
                <a:latin typeface="Gilroy Bold"/>
                <a:ea typeface="Gilroy Bold"/>
                <a:cs typeface="Gilroy Bold"/>
                <a:sym typeface="Gilroy Bold"/>
              </a:rPr>
              <a:t>3.REPORTE POR MICRORREGIÓN</a:t>
            </a: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524D94FD-C58F-494F-B9C6-6D057BCFDAB1}"/>
              </a:ext>
            </a:extLst>
          </p:cNvPr>
          <p:cNvSpPr txBox="1"/>
          <p:nvPr/>
        </p:nvSpPr>
        <p:spPr>
          <a:xfrm>
            <a:off x="1143000" y="2402327"/>
            <a:ext cx="4953000" cy="6323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59"/>
              </a:lnSpc>
            </a:pPr>
            <a:r>
              <a:rPr lang="en-US" sz="2800" dirty="0">
                <a:latin typeface="Gilroy Bold" panose="020B0604020202020204" charset="0"/>
                <a:ea typeface="Gilroy"/>
                <a:cs typeface="Gilroy"/>
                <a:sym typeface="Gilroy"/>
              </a:rPr>
              <a:t>MR11 PUEBLA</a:t>
            </a:r>
          </a:p>
        </p:txBody>
      </p:sp>
      <p:sp>
        <p:nvSpPr>
          <p:cNvPr id="27" name="TextBox 5">
            <a:extLst>
              <a:ext uri="{FF2B5EF4-FFF2-40B4-BE49-F238E27FC236}">
                <a16:creationId xmlns:a16="http://schemas.microsoft.com/office/drawing/2014/main" id="{F1DEBECB-E19E-4FCB-A46C-AB8DFE8E0874}"/>
              </a:ext>
            </a:extLst>
          </p:cNvPr>
          <p:cNvSpPr txBox="1"/>
          <p:nvPr/>
        </p:nvSpPr>
        <p:spPr>
          <a:xfrm>
            <a:off x="6324600" y="8994062"/>
            <a:ext cx="6754212" cy="6277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Semana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1 al 6 de </a:t>
            </a: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febrero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de 2026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91EBFDAB-1FC1-4003-A2C5-1633BB89A573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68300" y="517670"/>
            <a:ext cx="1810512" cy="2433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157864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2"/>
            <a:ext cx="13716000" cy="10283975"/>
            <a:chOff x="0" y="0"/>
            <a:chExt cx="17750118" cy="137119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750118" cy="13711966"/>
            </a:xfrm>
            <a:custGeom>
              <a:avLst/>
              <a:gdLst/>
              <a:ahLst/>
              <a:cxnLst/>
              <a:rect l="l" t="t" r="r" b="b"/>
              <a:pathLst>
                <a:path w="17750118" h="13711966">
                  <a:moveTo>
                    <a:pt x="0" y="0"/>
                  </a:moveTo>
                  <a:lnTo>
                    <a:pt x="17750118" y="0"/>
                  </a:lnTo>
                  <a:lnTo>
                    <a:pt x="17750118" y="13711966"/>
                  </a:lnTo>
                  <a:lnTo>
                    <a:pt x="0" y="13711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>
              <a:off x="777253" y="616144"/>
              <a:ext cx="9313341" cy="985065"/>
            </a:xfrm>
            <a:custGeom>
              <a:avLst/>
              <a:gdLst/>
              <a:ahLst/>
              <a:cxnLst/>
              <a:rect l="l" t="t" r="r" b="b"/>
              <a:pathLst>
                <a:path w="9313341" h="985065">
                  <a:moveTo>
                    <a:pt x="0" y="0"/>
                  </a:moveTo>
                  <a:lnTo>
                    <a:pt x="9313342" y="0"/>
                  </a:lnTo>
                  <a:lnTo>
                    <a:pt x="9313342" y="985065"/>
                  </a:lnTo>
                  <a:lnTo>
                    <a:pt x="0" y="9850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  <p:sp>
          <p:nvSpPr>
            <p:cNvPr id="5" name="Freeform 5"/>
            <p:cNvSpPr/>
            <p:nvPr/>
          </p:nvSpPr>
          <p:spPr>
            <a:xfrm>
              <a:off x="777253" y="13401347"/>
              <a:ext cx="16168531" cy="310619"/>
            </a:xfrm>
            <a:custGeom>
              <a:avLst/>
              <a:gdLst/>
              <a:ahLst/>
              <a:cxnLst/>
              <a:rect l="l" t="t" r="r" b="b"/>
              <a:pathLst>
                <a:path w="16168531" h="310619">
                  <a:moveTo>
                    <a:pt x="0" y="0"/>
                  </a:moveTo>
                  <a:lnTo>
                    <a:pt x="16168531" y="0"/>
                  </a:lnTo>
                  <a:lnTo>
                    <a:pt x="16168531" y="310619"/>
                  </a:lnTo>
                  <a:lnTo>
                    <a:pt x="0" y="310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1" name="TextBox 3">
            <a:extLst>
              <a:ext uri="{FF2B5EF4-FFF2-40B4-BE49-F238E27FC236}">
                <a16:creationId xmlns:a16="http://schemas.microsoft.com/office/drawing/2014/main" id="{EA22F396-4286-4590-8BF9-0639630495FE}"/>
              </a:ext>
            </a:extLst>
          </p:cNvPr>
          <p:cNvSpPr txBox="1"/>
          <p:nvPr/>
        </p:nvSpPr>
        <p:spPr>
          <a:xfrm>
            <a:off x="914400" y="1280738"/>
            <a:ext cx="9919548" cy="10417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264"/>
              </a:lnSpc>
              <a:spcBef>
                <a:spcPct val="0"/>
              </a:spcBef>
            </a:pPr>
            <a:r>
              <a:rPr lang="en-US" sz="4400" b="1" dirty="0">
                <a:latin typeface="Gilroy Bold"/>
                <a:ea typeface="Gilroy Bold"/>
                <a:cs typeface="Gilroy Bold"/>
                <a:sym typeface="Gilroy Bold"/>
              </a:rPr>
              <a:t>3.REPORTE POR MICRORREGIÓN</a:t>
            </a: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524D94FD-C58F-494F-B9C6-6D057BCFDAB1}"/>
              </a:ext>
            </a:extLst>
          </p:cNvPr>
          <p:cNvSpPr txBox="1"/>
          <p:nvPr/>
        </p:nvSpPr>
        <p:spPr>
          <a:xfrm>
            <a:off x="1143000" y="2402327"/>
            <a:ext cx="4953000" cy="6323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59"/>
              </a:lnSpc>
            </a:pPr>
            <a:r>
              <a:rPr lang="en-US" sz="2800" dirty="0">
                <a:latin typeface="Gilroy Bold" panose="020B0604020202020204" charset="0"/>
                <a:ea typeface="Gilroy"/>
                <a:cs typeface="Gilroy"/>
                <a:sym typeface="Gilroy"/>
              </a:rPr>
              <a:t>MR12 AMOZOC</a:t>
            </a:r>
          </a:p>
        </p:txBody>
      </p:sp>
      <p:sp>
        <p:nvSpPr>
          <p:cNvPr id="27" name="TextBox 5">
            <a:extLst>
              <a:ext uri="{FF2B5EF4-FFF2-40B4-BE49-F238E27FC236}">
                <a16:creationId xmlns:a16="http://schemas.microsoft.com/office/drawing/2014/main" id="{F1DEBECB-E19E-4FCB-A46C-AB8DFE8E0874}"/>
              </a:ext>
            </a:extLst>
          </p:cNvPr>
          <p:cNvSpPr txBox="1"/>
          <p:nvPr/>
        </p:nvSpPr>
        <p:spPr>
          <a:xfrm>
            <a:off x="6324600" y="8994062"/>
            <a:ext cx="6754212" cy="6277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Semana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1 al 6 de </a:t>
            </a: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febrero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de 2026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AEE25F76-B105-4F1C-AE65-6A4113DAA8D1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2431" y="208833"/>
            <a:ext cx="1429169" cy="2418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91530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2"/>
            <a:ext cx="13716000" cy="10283975"/>
            <a:chOff x="0" y="0"/>
            <a:chExt cx="17750118" cy="137119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750118" cy="13711966"/>
            </a:xfrm>
            <a:custGeom>
              <a:avLst/>
              <a:gdLst/>
              <a:ahLst/>
              <a:cxnLst/>
              <a:rect l="l" t="t" r="r" b="b"/>
              <a:pathLst>
                <a:path w="17750118" h="13711966">
                  <a:moveTo>
                    <a:pt x="0" y="0"/>
                  </a:moveTo>
                  <a:lnTo>
                    <a:pt x="17750118" y="0"/>
                  </a:lnTo>
                  <a:lnTo>
                    <a:pt x="17750118" y="13711966"/>
                  </a:lnTo>
                  <a:lnTo>
                    <a:pt x="0" y="13711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>
              <a:off x="777253" y="616144"/>
              <a:ext cx="9313341" cy="985065"/>
            </a:xfrm>
            <a:custGeom>
              <a:avLst/>
              <a:gdLst/>
              <a:ahLst/>
              <a:cxnLst/>
              <a:rect l="l" t="t" r="r" b="b"/>
              <a:pathLst>
                <a:path w="9313341" h="985065">
                  <a:moveTo>
                    <a:pt x="0" y="0"/>
                  </a:moveTo>
                  <a:lnTo>
                    <a:pt x="9313342" y="0"/>
                  </a:lnTo>
                  <a:lnTo>
                    <a:pt x="9313342" y="985065"/>
                  </a:lnTo>
                  <a:lnTo>
                    <a:pt x="0" y="9850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  <p:sp>
          <p:nvSpPr>
            <p:cNvPr id="5" name="Freeform 5"/>
            <p:cNvSpPr/>
            <p:nvPr/>
          </p:nvSpPr>
          <p:spPr>
            <a:xfrm>
              <a:off x="777253" y="13401347"/>
              <a:ext cx="16168531" cy="310619"/>
            </a:xfrm>
            <a:custGeom>
              <a:avLst/>
              <a:gdLst/>
              <a:ahLst/>
              <a:cxnLst/>
              <a:rect l="l" t="t" r="r" b="b"/>
              <a:pathLst>
                <a:path w="16168531" h="310619">
                  <a:moveTo>
                    <a:pt x="0" y="0"/>
                  </a:moveTo>
                  <a:lnTo>
                    <a:pt x="16168531" y="0"/>
                  </a:lnTo>
                  <a:lnTo>
                    <a:pt x="16168531" y="310619"/>
                  </a:lnTo>
                  <a:lnTo>
                    <a:pt x="0" y="310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1" name="TextBox 3">
            <a:extLst>
              <a:ext uri="{FF2B5EF4-FFF2-40B4-BE49-F238E27FC236}">
                <a16:creationId xmlns:a16="http://schemas.microsoft.com/office/drawing/2014/main" id="{EA22F396-4286-4590-8BF9-0639630495FE}"/>
              </a:ext>
            </a:extLst>
          </p:cNvPr>
          <p:cNvSpPr txBox="1"/>
          <p:nvPr/>
        </p:nvSpPr>
        <p:spPr>
          <a:xfrm>
            <a:off x="914400" y="1280738"/>
            <a:ext cx="9919548" cy="10417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264"/>
              </a:lnSpc>
              <a:spcBef>
                <a:spcPct val="0"/>
              </a:spcBef>
            </a:pPr>
            <a:r>
              <a:rPr lang="en-US" sz="4400" b="1" dirty="0">
                <a:latin typeface="Gilroy Bold"/>
                <a:ea typeface="Gilroy Bold"/>
                <a:cs typeface="Gilroy Bold"/>
                <a:sym typeface="Gilroy Bold"/>
              </a:rPr>
              <a:t>3.REPORTE POR MICRORREGIÓN</a:t>
            </a: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524D94FD-C58F-494F-B9C6-6D057BCFDAB1}"/>
              </a:ext>
            </a:extLst>
          </p:cNvPr>
          <p:cNvSpPr txBox="1"/>
          <p:nvPr/>
        </p:nvSpPr>
        <p:spPr>
          <a:xfrm>
            <a:off x="1143000" y="2402327"/>
            <a:ext cx="4953000" cy="6323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59"/>
              </a:lnSpc>
            </a:pPr>
            <a:r>
              <a:rPr lang="en-US" sz="2800" dirty="0">
                <a:latin typeface="Gilroy Bold" panose="020B0604020202020204" charset="0"/>
                <a:ea typeface="Gilroy"/>
                <a:cs typeface="Gilroy"/>
                <a:sym typeface="Gilroy"/>
              </a:rPr>
              <a:t>MR13 TEPEACA</a:t>
            </a:r>
          </a:p>
        </p:txBody>
      </p:sp>
      <p:sp>
        <p:nvSpPr>
          <p:cNvPr id="27" name="TextBox 5">
            <a:extLst>
              <a:ext uri="{FF2B5EF4-FFF2-40B4-BE49-F238E27FC236}">
                <a16:creationId xmlns:a16="http://schemas.microsoft.com/office/drawing/2014/main" id="{F1DEBECB-E19E-4FCB-A46C-AB8DFE8E0874}"/>
              </a:ext>
            </a:extLst>
          </p:cNvPr>
          <p:cNvSpPr txBox="1"/>
          <p:nvPr/>
        </p:nvSpPr>
        <p:spPr>
          <a:xfrm>
            <a:off x="6324600" y="8994062"/>
            <a:ext cx="6754212" cy="6277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Semana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1 al 6 de </a:t>
            </a: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febrero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de 2026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AEE52204-176A-4648-A370-FD6C0357DF54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93028" y="312132"/>
            <a:ext cx="1178881" cy="27225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64200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2"/>
            <a:ext cx="13716000" cy="10283975"/>
            <a:chOff x="0" y="0"/>
            <a:chExt cx="17750118" cy="137119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750118" cy="13711966"/>
            </a:xfrm>
            <a:custGeom>
              <a:avLst/>
              <a:gdLst/>
              <a:ahLst/>
              <a:cxnLst/>
              <a:rect l="l" t="t" r="r" b="b"/>
              <a:pathLst>
                <a:path w="17750118" h="13711966">
                  <a:moveTo>
                    <a:pt x="0" y="0"/>
                  </a:moveTo>
                  <a:lnTo>
                    <a:pt x="17750118" y="0"/>
                  </a:lnTo>
                  <a:lnTo>
                    <a:pt x="17750118" y="13711966"/>
                  </a:lnTo>
                  <a:lnTo>
                    <a:pt x="0" y="13711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>
              <a:off x="777253" y="616144"/>
              <a:ext cx="9313341" cy="985065"/>
            </a:xfrm>
            <a:custGeom>
              <a:avLst/>
              <a:gdLst/>
              <a:ahLst/>
              <a:cxnLst/>
              <a:rect l="l" t="t" r="r" b="b"/>
              <a:pathLst>
                <a:path w="9313341" h="985065">
                  <a:moveTo>
                    <a:pt x="0" y="0"/>
                  </a:moveTo>
                  <a:lnTo>
                    <a:pt x="9313342" y="0"/>
                  </a:lnTo>
                  <a:lnTo>
                    <a:pt x="9313342" y="985065"/>
                  </a:lnTo>
                  <a:lnTo>
                    <a:pt x="0" y="9850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  <p:sp>
          <p:nvSpPr>
            <p:cNvPr id="5" name="Freeform 5"/>
            <p:cNvSpPr/>
            <p:nvPr/>
          </p:nvSpPr>
          <p:spPr>
            <a:xfrm>
              <a:off x="777253" y="13401347"/>
              <a:ext cx="16168531" cy="310619"/>
            </a:xfrm>
            <a:custGeom>
              <a:avLst/>
              <a:gdLst/>
              <a:ahLst/>
              <a:cxnLst/>
              <a:rect l="l" t="t" r="r" b="b"/>
              <a:pathLst>
                <a:path w="16168531" h="310619">
                  <a:moveTo>
                    <a:pt x="0" y="0"/>
                  </a:moveTo>
                  <a:lnTo>
                    <a:pt x="16168531" y="0"/>
                  </a:lnTo>
                  <a:lnTo>
                    <a:pt x="16168531" y="310619"/>
                  </a:lnTo>
                  <a:lnTo>
                    <a:pt x="0" y="310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1" name="TextBox 3">
            <a:extLst>
              <a:ext uri="{FF2B5EF4-FFF2-40B4-BE49-F238E27FC236}">
                <a16:creationId xmlns:a16="http://schemas.microsoft.com/office/drawing/2014/main" id="{EA22F396-4286-4590-8BF9-0639630495FE}"/>
              </a:ext>
            </a:extLst>
          </p:cNvPr>
          <p:cNvSpPr txBox="1"/>
          <p:nvPr/>
        </p:nvSpPr>
        <p:spPr>
          <a:xfrm>
            <a:off x="914400" y="1280738"/>
            <a:ext cx="9919548" cy="10417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264"/>
              </a:lnSpc>
              <a:spcBef>
                <a:spcPct val="0"/>
              </a:spcBef>
            </a:pPr>
            <a:r>
              <a:rPr lang="en-US" sz="4400" b="1" dirty="0">
                <a:latin typeface="Gilroy Bold"/>
                <a:ea typeface="Gilroy Bold"/>
                <a:cs typeface="Gilroy Bold"/>
                <a:sym typeface="Gilroy Bold"/>
              </a:rPr>
              <a:t>3.REPORTE POR MICRORREGIÓN</a:t>
            </a: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524D94FD-C58F-494F-B9C6-6D057BCFDAB1}"/>
              </a:ext>
            </a:extLst>
          </p:cNvPr>
          <p:cNvSpPr txBox="1"/>
          <p:nvPr/>
        </p:nvSpPr>
        <p:spPr>
          <a:xfrm>
            <a:off x="1143000" y="2402327"/>
            <a:ext cx="6858000" cy="6323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59"/>
              </a:lnSpc>
            </a:pPr>
            <a:r>
              <a:rPr lang="en-US" sz="2800" dirty="0">
                <a:latin typeface="Gilroy Bold" panose="020B0604020202020204" charset="0"/>
                <a:ea typeface="Gilroy"/>
                <a:cs typeface="Gilroy"/>
                <a:sym typeface="Gilroy"/>
              </a:rPr>
              <a:t>MR14 CALCHICOMULA DE SESMA</a:t>
            </a:r>
          </a:p>
        </p:txBody>
      </p:sp>
      <p:sp>
        <p:nvSpPr>
          <p:cNvPr id="27" name="TextBox 5">
            <a:extLst>
              <a:ext uri="{FF2B5EF4-FFF2-40B4-BE49-F238E27FC236}">
                <a16:creationId xmlns:a16="http://schemas.microsoft.com/office/drawing/2014/main" id="{F1DEBECB-E19E-4FCB-A46C-AB8DFE8E0874}"/>
              </a:ext>
            </a:extLst>
          </p:cNvPr>
          <p:cNvSpPr txBox="1"/>
          <p:nvPr/>
        </p:nvSpPr>
        <p:spPr>
          <a:xfrm>
            <a:off x="6324600" y="8994062"/>
            <a:ext cx="6754212" cy="6277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Semana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1 al 6 de </a:t>
            </a: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febrero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de 2026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3239D774-50A0-4F9D-9498-E14DF5D763EE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27785" y="462110"/>
            <a:ext cx="2241126" cy="2092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5967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2"/>
            <a:ext cx="13716000" cy="10283975"/>
            <a:chOff x="0" y="0"/>
            <a:chExt cx="17750118" cy="137119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750118" cy="13711966"/>
            </a:xfrm>
            <a:custGeom>
              <a:avLst/>
              <a:gdLst/>
              <a:ahLst/>
              <a:cxnLst/>
              <a:rect l="l" t="t" r="r" b="b"/>
              <a:pathLst>
                <a:path w="17750118" h="13711966">
                  <a:moveTo>
                    <a:pt x="0" y="0"/>
                  </a:moveTo>
                  <a:lnTo>
                    <a:pt x="17750118" y="0"/>
                  </a:lnTo>
                  <a:lnTo>
                    <a:pt x="17750118" y="13711966"/>
                  </a:lnTo>
                  <a:lnTo>
                    <a:pt x="0" y="13711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>
              <a:off x="777253" y="616144"/>
              <a:ext cx="9313341" cy="985065"/>
            </a:xfrm>
            <a:custGeom>
              <a:avLst/>
              <a:gdLst/>
              <a:ahLst/>
              <a:cxnLst/>
              <a:rect l="l" t="t" r="r" b="b"/>
              <a:pathLst>
                <a:path w="9313341" h="985065">
                  <a:moveTo>
                    <a:pt x="0" y="0"/>
                  </a:moveTo>
                  <a:lnTo>
                    <a:pt x="9313342" y="0"/>
                  </a:lnTo>
                  <a:lnTo>
                    <a:pt x="9313342" y="985065"/>
                  </a:lnTo>
                  <a:lnTo>
                    <a:pt x="0" y="9850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  <p:sp>
          <p:nvSpPr>
            <p:cNvPr id="5" name="Freeform 5"/>
            <p:cNvSpPr/>
            <p:nvPr/>
          </p:nvSpPr>
          <p:spPr>
            <a:xfrm>
              <a:off x="777253" y="13401347"/>
              <a:ext cx="16168531" cy="310619"/>
            </a:xfrm>
            <a:custGeom>
              <a:avLst/>
              <a:gdLst/>
              <a:ahLst/>
              <a:cxnLst/>
              <a:rect l="l" t="t" r="r" b="b"/>
              <a:pathLst>
                <a:path w="16168531" h="310619">
                  <a:moveTo>
                    <a:pt x="0" y="0"/>
                  </a:moveTo>
                  <a:lnTo>
                    <a:pt x="16168531" y="0"/>
                  </a:lnTo>
                  <a:lnTo>
                    <a:pt x="16168531" y="310619"/>
                  </a:lnTo>
                  <a:lnTo>
                    <a:pt x="0" y="310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1" name="TextBox 3">
            <a:extLst>
              <a:ext uri="{FF2B5EF4-FFF2-40B4-BE49-F238E27FC236}">
                <a16:creationId xmlns:a16="http://schemas.microsoft.com/office/drawing/2014/main" id="{EA22F396-4286-4590-8BF9-0639630495FE}"/>
              </a:ext>
            </a:extLst>
          </p:cNvPr>
          <p:cNvSpPr txBox="1"/>
          <p:nvPr/>
        </p:nvSpPr>
        <p:spPr>
          <a:xfrm>
            <a:off x="914400" y="1280738"/>
            <a:ext cx="9919548" cy="10417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264"/>
              </a:lnSpc>
              <a:spcBef>
                <a:spcPct val="0"/>
              </a:spcBef>
            </a:pPr>
            <a:r>
              <a:rPr lang="en-US" sz="4400" b="1" dirty="0">
                <a:latin typeface="Gilroy Bold"/>
                <a:ea typeface="Gilroy Bold"/>
                <a:cs typeface="Gilroy Bold"/>
                <a:sym typeface="Gilroy Bold"/>
              </a:rPr>
              <a:t>3.REPORTE POR MICRORREGIÓN</a:t>
            </a: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524D94FD-C58F-494F-B9C6-6D057BCFDAB1}"/>
              </a:ext>
            </a:extLst>
          </p:cNvPr>
          <p:cNvSpPr txBox="1"/>
          <p:nvPr/>
        </p:nvSpPr>
        <p:spPr>
          <a:xfrm>
            <a:off x="1143000" y="2402327"/>
            <a:ext cx="6858000" cy="6323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59"/>
              </a:lnSpc>
            </a:pPr>
            <a:r>
              <a:rPr lang="en-US" sz="2800" dirty="0">
                <a:latin typeface="Gilroy Bold" panose="020B0604020202020204" charset="0"/>
                <a:ea typeface="Gilroy"/>
                <a:cs typeface="Gilroy"/>
                <a:sym typeface="Gilroy"/>
              </a:rPr>
              <a:t>MR15 TECAMACHALCO</a:t>
            </a:r>
          </a:p>
        </p:txBody>
      </p:sp>
      <p:sp>
        <p:nvSpPr>
          <p:cNvPr id="27" name="TextBox 5">
            <a:extLst>
              <a:ext uri="{FF2B5EF4-FFF2-40B4-BE49-F238E27FC236}">
                <a16:creationId xmlns:a16="http://schemas.microsoft.com/office/drawing/2014/main" id="{F1DEBECB-E19E-4FCB-A46C-AB8DFE8E0874}"/>
              </a:ext>
            </a:extLst>
          </p:cNvPr>
          <p:cNvSpPr txBox="1"/>
          <p:nvPr/>
        </p:nvSpPr>
        <p:spPr>
          <a:xfrm>
            <a:off x="6324600" y="8994062"/>
            <a:ext cx="6754212" cy="6277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Semana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1 al 6 de </a:t>
            </a: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febrero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de 2026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71B1E6D3-CD41-4D63-8412-C6766F3C2470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15764" y="462110"/>
            <a:ext cx="2463048" cy="209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03705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2"/>
            <a:ext cx="13716000" cy="10283975"/>
            <a:chOff x="0" y="0"/>
            <a:chExt cx="17750118" cy="137119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750118" cy="13711966"/>
            </a:xfrm>
            <a:custGeom>
              <a:avLst/>
              <a:gdLst/>
              <a:ahLst/>
              <a:cxnLst/>
              <a:rect l="l" t="t" r="r" b="b"/>
              <a:pathLst>
                <a:path w="17750118" h="13711966">
                  <a:moveTo>
                    <a:pt x="0" y="0"/>
                  </a:moveTo>
                  <a:lnTo>
                    <a:pt x="17750118" y="0"/>
                  </a:lnTo>
                  <a:lnTo>
                    <a:pt x="17750118" y="13711966"/>
                  </a:lnTo>
                  <a:lnTo>
                    <a:pt x="0" y="13711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>
              <a:off x="777253" y="616144"/>
              <a:ext cx="9313341" cy="985065"/>
            </a:xfrm>
            <a:custGeom>
              <a:avLst/>
              <a:gdLst/>
              <a:ahLst/>
              <a:cxnLst/>
              <a:rect l="l" t="t" r="r" b="b"/>
              <a:pathLst>
                <a:path w="9313341" h="985065">
                  <a:moveTo>
                    <a:pt x="0" y="0"/>
                  </a:moveTo>
                  <a:lnTo>
                    <a:pt x="9313342" y="0"/>
                  </a:lnTo>
                  <a:lnTo>
                    <a:pt x="9313342" y="985065"/>
                  </a:lnTo>
                  <a:lnTo>
                    <a:pt x="0" y="9850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  <p:sp>
          <p:nvSpPr>
            <p:cNvPr id="5" name="Freeform 5"/>
            <p:cNvSpPr/>
            <p:nvPr/>
          </p:nvSpPr>
          <p:spPr>
            <a:xfrm>
              <a:off x="777253" y="13401347"/>
              <a:ext cx="16168531" cy="310619"/>
            </a:xfrm>
            <a:custGeom>
              <a:avLst/>
              <a:gdLst/>
              <a:ahLst/>
              <a:cxnLst/>
              <a:rect l="l" t="t" r="r" b="b"/>
              <a:pathLst>
                <a:path w="16168531" h="310619">
                  <a:moveTo>
                    <a:pt x="0" y="0"/>
                  </a:moveTo>
                  <a:lnTo>
                    <a:pt x="16168531" y="0"/>
                  </a:lnTo>
                  <a:lnTo>
                    <a:pt x="16168531" y="310619"/>
                  </a:lnTo>
                  <a:lnTo>
                    <a:pt x="0" y="310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1" name="TextBox 3">
            <a:extLst>
              <a:ext uri="{FF2B5EF4-FFF2-40B4-BE49-F238E27FC236}">
                <a16:creationId xmlns:a16="http://schemas.microsoft.com/office/drawing/2014/main" id="{EA22F396-4286-4590-8BF9-0639630495FE}"/>
              </a:ext>
            </a:extLst>
          </p:cNvPr>
          <p:cNvSpPr txBox="1"/>
          <p:nvPr/>
        </p:nvSpPr>
        <p:spPr>
          <a:xfrm>
            <a:off x="914400" y="1280738"/>
            <a:ext cx="9919548" cy="10417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264"/>
              </a:lnSpc>
              <a:spcBef>
                <a:spcPct val="0"/>
              </a:spcBef>
            </a:pPr>
            <a:r>
              <a:rPr lang="en-US" sz="4400" b="1" dirty="0">
                <a:latin typeface="Gilroy Bold"/>
                <a:ea typeface="Gilroy Bold"/>
                <a:cs typeface="Gilroy Bold"/>
                <a:sym typeface="Gilroy Bold"/>
              </a:rPr>
              <a:t>3.REPORTE POR MICRORREGIÓN</a:t>
            </a: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524D94FD-C58F-494F-B9C6-6D057BCFDAB1}"/>
              </a:ext>
            </a:extLst>
          </p:cNvPr>
          <p:cNvSpPr txBox="1"/>
          <p:nvPr/>
        </p:nvSpPr>
        <p:spPr>
          <a:xfrm>
            <a:off x="1143000" y="2402327"/>
            <a:ext cx="3886200" cy="6323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59"/>
              </a:lnSpc>
            </a:pPr>
            <a:r>
              <a:rPr lang="en-US" sz="2800" dirty="0">
                <a:latin typeface="Gilroy Bold" panose="020B0604020202020204" charset="0"/>
                <a:ea typeface="Gilroy"/>
                <a:cs typeface="Gilroy"/>
                <a:sym typeface="Gilroy"/>
              </a:rPr>
              <a:t>MR16 PUEBLA</a:t>
            </a:r>
          </a:p>
        </p:txBody>
      </p:sp>
      <p:sp>
        <p:nvSpPr>
          <p:cNvPr id="27" name="TextBox 5">
            <a:extLst>
              <a:ext uri="{FF2B5EF4-FFF2-40B4-BE49-F238E27FC236}">
                <a16:creationId xmlns:a16="http://schemas.microsoft.com/office/drawing/2014/main" id="{F1DEBECB-E19E-4FCB-A46C-AB8DFE8E0874}"/>
              </a:ext>
            </a:extLst>
          </p:cNvPr>
          <p:cNvSpPr txBox="1"/>
          <p:nvPr/>
        </p:nvSpPr>
        <p:spPr>
          <a:xfrm>
            <a:off x="6324600" y="8994062"/>
            <a:ext cx="6754212" cy="6277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Semana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1 al 6 de </a:t>
            </a: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febrero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de 2026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C4D4CF5F-B62E-4255-9B5E-E52AC9F6365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48938" y="504947"/>
            <a:ext cx="2076745" cy="1897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84999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2"/>
            <a:ext cx="13716000" cy="10283975"/>
            <a:chOff x="0" y="0"/>
            <a:chExt cx="17750118" cy="137119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750118" cy="13711966"/>
            </a:xfrm>
            <a:custGeom>
              <a:avLst/>
              <a:gdLst/>
              <a:ahLst/>
              <a:cxnLst/>
              <a:rect l="l" t="t" r="r" b="b"/>
              <a:pathLst>
                <a:path w="17750118" h="13711966">
                  <a:moveTo>
                    <a:pt x="0" y="0"/>
                  </a:moveTo>
                  <a:lnTo>
                    <a:pt x="17750118" y="0"/>
                  </a:lnTo>
                  <a:lnTo>
                    <a:pt x="17750118" y="13711966"/>
                  </a:lnTo>
                  <a:lnTo>
                    <a:pt x="0" y="13711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>
              <a:off x="777253" y="616144"/>
              <a:ext cx="9313341" cy="985065"/>
            </a:xfrm>
            <a:custGeom>
              <a:avLst/>
              <a:gdLst/>
              <a:ahLst/>
              <a:cxnLst/>
              <a:rect l="l" t="t" r="r" b="b"/>
              <a:pathLst>
                <a:path w="9313341" h="985065">
                  <a:moveTo>
                    <a:pt x="0" y="0"/>
                  </a:moveTo>
                  <a:lnTo>
                    <a:pt x="9313342" y="0"/>
                  </a:lnTo>
                  <a:lnTo>
                    <a:pt x="9313342" y="985065"/>
                  </a:lnTo>
                  <a:lnTo>
                    <a:pt x="0" y="9850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  <p:sp>
          <p:nvSpPr>
            <p:cNvPr id="5" name="Freeform 5"/>
            <p:cNvSpPr/>
            <p:nvPr/>
          </p:nvSpPr>
          <p:spPr>
            <a:xfrm>
              <a:off x="777253" y="13401347"/>
              <a:ext cx="16168531" cy="310619"/>
            </a:xfrm>
            <a:custGeom>
              <a:avLst/>
              <a:gdLst/>
              <a:ahLst/>
              <a:cxnLst/>
              <a:rect l="l" t="t" r="r" b="b"/>
              <a:pathLst>
                <a:path w="16168531" h="310619">
                  <a:moveTo>
                    <a:pt x="0" y="0"/>
                  </a:moveTo>
                  <a:lnTo>
                    <a:pt x="16168531" y="0"/>
                  </a:lnTo>
                  <a:lnTo>
                    <a:pt x="16168531" y="310619"/>
                  </a:lnTo>
                  <a:lnTo>
                    <a:pt x="0" y="310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1" name="TextBox 3">
            <a:extLst>
              <a:ext uri="{FF2B5EF4-FFF2-40B4-BE49-F238E27FC236}">
                <a16:creationId xmlns:a16="http://schemas.microsoft.com/office/drawing/2014/main" id="{EA22F396-4286-4590-8BF9-0639630495FE}"/>
              </a:ext>
            </a:extLst>
          </p:cNvPr>
          <p:cNvSpPr txBox="1"/>
          <p:nvPr/>
        </p:nvSpPr>
        <p:spPr>
          <a:xfrm>
            <a:off x="914400" y="1280738"/>
            <a:ext cx="9919548" cy="10417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264"/>
              </a:lnSpc>
              <a:spcBef>
                <a:spcPct val="0"/>
              </a:spcBef>
            </a:pPr>
            <a:r>
              <a:rPr lang="en-US" sz="4400" b="1" dirty="0">
                <a:latin typeface="Gilroy Bold"/>
                <a:ea typeface="Gilroy Bold"/>
                <a:cs typeface="Gilroy Bold"/>
                <a:sym typeface="Gilroy Bold"/>
              </a:rPr>
              <a:t>3.REPORTE POR MICRORREGIÓN</a:t>
            </a: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524D94FD-C58F-494F-B9C6-6D057BCFDAB1}"/>
              </a:ext>
            </a:extLst>
          </p:cNvPr>
          <p:cNvSpPr txBox="1"/>
          <p:nvPr/>
        </p:nvSpPr>
        <p:spPr>
          <a:xfrm>
            <a:off x="1143000" y="2402327"/>
            <a:ext cx="3886200" cy="6323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59"/>
              </a:lnSpc>
            </a:pPr>
            <a:r>
              <a:rPr lang="en-US" sz="2800" dirty="0">
                <a:latin typeface="Gilroy Bold" panose="020B0604020202020204" charset="0"/>
                <a:ea typeface="Gilroy"/>
                <a:cs typeface="Gilroy"/>
                <a:sym typeface="Gilroy"/>
              </a:rPr>
              <a:t>MR17 PUEBLA</a:t>
            </a:r>
          </a:p>
        </p:txBody>
      </p:sp>
      <p:sp>
        <p:nvSpPr>
          <p:cNvPr id="27" name="TextBox 5">
            <a:extLst>
              <a:ext uri="{FF2B5EF4-FFF2-40B4-BE49-F238E27FC236}">
                <a16:creationId xmlns:a16="http://schemas.microsoft.com/office/drawing/2014/main" id="{F1DEBECB-E19E-4FCB-A46C-AB8DFE8E0874}"/>
              </a:ext>
            </a:extLst>
          </p:cNvPr>
          <p:cNvSpPr txBox="1"/>
          <p:nvPr/>
        </p:nvSpPr>
        <p:spPr>
          <a:xfrm>
            <a:off x="6324600" y="8994062"/>
            <a:ext cx="6754212" cy="6277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Semana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1 al 6 de </a:t>
            </a: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febrero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de 2026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1E0E5CB3-2FEE-4A24-8AE9-A05E97D9E097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0000" y="462110"/>
            <a:ext cx="1371600" cy="1980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165279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2"/>
            <a:ext cx="13716000" cy="10283975"/>
            <a:chOff x="0" y="0"/>
            <a:chExt cx="17750118" cy="137119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750118" cy="13711966"/>
            </a:xfrm>
            <a:custGeom>
              <a:avLst/>
              <a:gdLst/>
              <a:ahLst/>
              <a:cxnLst/>
              <a:rect l="l" t="t" r="r" b="b"/>
              <a:pathLst>
                <a:path w="17750118" h="13711966">
                  <a:moveTo>
                    <a:pt x="0" y="0"/>
                  </a:moveTo>
                  <a:lnTo>
                    <a:pt x="17750118" y="0"/>
                  </a:lnTo>
                  <a:lnTo>
                    <a:pt x="17750118" y="13711966"/>
                  </a:lnTo>
                  <a:lnTo>
                    <a:pt x="0" y="13711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>
              <a:off x="777253" y="616144"/>
              <a:ext cx="9313341" cy="985065"/>
            </a:xfrm>
            <a:custGeom>
              <a:avLst/>
              <a:gdLst/>
              <a:ahLst/>
              <a:cxnLst/>
              <a:rect l="l" t="t" r="r" b="b"/>
              <a:pathLst>
                <a:path w="9313341" h="985065">
                  <a:moveTo>
                    <a:pt x="0" y="0"/>
                  </a:moveTo>
                  <a:lnTo>
                    <a:pt x="9313342" y="0"/>
                  </a:lnTo>
                  <a:lnTo>
                    <a:pt x="9313342" y="985065"/>
                  </a:lnTo>
                  <a:lnTo>
                    <a:pt x="0" y="9850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  <p:sp>
          <p:nvSpPr>
            <p:cNvPr id="5" name="Freeform 5"/>
            <p:cNvSpPr/>
            <p:nvPr/>
          </p:nvSpPr>
          <p:spPr>
            <a:xfrm>
              <a:off x="777253" y="13401347"/>
              <a:ext cx="16168531" cy="310619"/>
            </a:xfrm>
            <a:custGeom>
              <a:avLst/>
              <a:gdLst/>
              <a:ahLst/>
              <a:cxnLst/>
              <a:rect l="l" t="t" r="r" b="b"/>
              <a:pathLst>
                <a:path w="16168531" h="310619">
                  <a:moveTo>
                    <a:pt x="0" y="0"/>
                  </a:moveTo>
                  <a:lnTo>
                    <a:pt x="16168531" y="0"/>
                  </a:lnTo>
                  <a:lnTo>
                    <a:pt x="16168531" y="310619"/>
                  </a:lnTo>
                  <a:lnTo>
                    <a:pt x="0" y="310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1" name="TextBox 3">
            <a:extLst>
              <a:ext uri="{FF2B5EF4-FFF2-40B4-BE49-F238E27FC236}">
                <a16:creationId xmlns:a16="http://schemas.microsoft.com/office/drawing/2014/main" id="{EA22F396-4286-4590-8BF9-0639630495FE}"/>
              </a:ext>
            </a:extLst>
          </p:cNvPr>
          <p:cNvSpPr txBox="1"/>
          <p:nvPr/>
        </p:nvSpPr>
        <p:spPr>
          <a:xfrm>
            <a:off x="914400" y="1280738"/>
            <a:ext cx="9919548" cy="10417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264"/>
              </a:lnSpc>
              <a:spcBef>
                <a:spcPct val="0"/>
              </a:spcBef>
            </a:pPr>
            <a:r>
              <a:rPr lang="en-US" sz="4400" b="1" dirty="0">
                <a:latin typeface="Gilroy Bold"/>
                <a:ea typeface="Gilroy Bold"/>
                <a:cs typeface="Gilroy Bold"/>
                <a:sym typeface="Gilroy Bold"/>
              </a:rPr>
              <a:t>3.REPORTE POR MICRORREGIÓN</a:t>
            </a: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524D94FD-C58F-494F-B9C6-6D057BCFDAB1}"/>
              </a:ext>
            </a:extLst>
          </p:cNvPr>
          <p:cNvSpPr txBox="1"/>
          <p:nvPr/>
        </p:nvSpPr>
        <p:spPr>
          <a:xfrm>
            <a:off x="1143000" y="2402327"/>
            <a:ext cx="3886200" cy="6323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59"/>
              </a:lnSpc>
            </a:pPr>
            <a:r>
              <a:rPr lang="en-US" sz="2800" dirty="0">
                <a:latin typeface="Gilroy Bold" panose="020B0604020202020204" charset="0"/>
                <a:ea typeface="Gilroy"/>
                <a:cs typeface="Gilroy"/>
                <a:sym typeface="Gilroy"/>
              </a:rPr>
              <a:t>MR18 CHOLULA</a:t>
            </a:r>
          </a:p>
        </p:txBody>
      </p:sp>
      <p:sp>
        <p:nvSpPr>
          <p:cNvPr id="27" name="TextBox 5">
            <a:extLst>
              <a:ext uri="{FF2B5EF4-FFF2-40B4-BE49-F238E27FC236}">
                <a16:creationId xmlns:a16="http://schemas.microsoft.com/office/drawing/2014/main" id="{F1DEBECB-E19E-4FCB-A46C-AB8DFE8E0874}"/>
              </a:ext>
            </a:extLst>
          </p:cNvPr>
          <p:cNvSpPr txBox="1"/>
          <p:nvPr/>
        </p:nvSpPr>
        <p:spPr>
          <a:xfrm>
            <a:off x="6324600" y="8994062"/>
            <a:ext cx="6754212" cy="6277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Semana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1 al 6 de </a:t>
            </a: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febrero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de 2026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5D042B4E-2995-4727-A002-EE51614AD17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83019" y="365970"/>
            <a:ext cx="2418581" cy="1829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296132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2"/>
            <a:ext cx="13716000" cy="10283975"/>
            <a:chOff x="0" y="0"/>
            <a:chExt cx="17750118" cy="137119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750118" cy="13711966"/>
            </a:xfrm>
            <a:custGeom>
              <a:avLst/>
              <a:gdLst/>
              <a:ahLst/>
              <a:cxnLst/>
              <a:rect l="l" t="t" r="r" b="b"/>
              <a:pathLst>
                <a:path w="17750118" h="13711966">
                  <a:moveTo>
                    <a:pt x="0" y="0"/>
                  </a:moveTo>
                  <a:lnTo>
                    <a:pt x="17750118" y="0"/>
                  </a:lnTo>
                  <a:lnTo>
                    <a:pt x="17750118" y="13711966"/>
                  </a:lnTo>
                  <a:lnTo>
                    <a:pt x="0" y="13711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>
              <a:off x="777253" y="616144"/>
              <a:ext cx="9313341" cy="985065"/>
            </a:xfrm>
            <a:custGeom>
              <a:avLst/>
              <a:gdLst/>
              <a:ahLst/>
              <a:cxnLst/>
              <a:rect l="l" t="t" r="r" b="b"/>
              <a:pathLst>
                <a:path w="9313341" h="985065">
                  <a:moveTo>
                    <a:pt x="0" y="0"/>
                  </a:moveTo>
                  <a:lnTo>
                    <a:pt x="9313342" y="0"/>
                  </a:lnTo>
                  <a:lnTo>
                    <a:pt x="9313342" y="985065"/>
                  </a:lnTo>
                  <a:lnTo>
                    <a:pt x="0" y="9850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  <p:sp>
          <p:nvSpPr>
            <p:cNvPr id="5" name="Freeform 5"/>
            <p:cNvSpPr/>
            <p:nvPr/>
          </p:nvSpPr>
          <p:spPr>
            <a:xfrm>
              <a:off x="777253" y="13401347"/>
              <a:ext cx="16168531" cy="310619"/>
            </a:xfrm>
            <a:custGeom>
              <a:avLst/>
              <a:gdLst/>
              <a:ahLst/>
              <a:cxnLst/>
              <a:rect l="l" t="t" r="r" b="b"/>
              <a:pathLst>
                <a:path w="16168531" h="310619">
                  <a:moveTo>
                    <a:pt x="0" y="0"/>
                  </a:moveTo>
                  <a:lnTo>
                    <a:pt x="16168531" y="0"/>
                  </a:lnTo>
                  <a:lnTo>
                    <a:pt x="16168531" y="310619"/>
                  </a:lnTo>
                  <a:lnTo>
                    <a:pt x="0" y="310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1" name="TextBox 3">
            <a:extLst>
              <a:ext uri="{FF2B5EF4-FFF2-40B4-BE49-F238E27FC236}">
                <a16:creationId xmlns:a16="http://schemas.microsoft.com/office/drawing/2014/main" id="{EA22F396-4286-4590-8BF9-0639630495FE}"/>
              </a:ext>
            </a:extLst>
          </p:cNvPr>
          <p:cNvSpPr txBox="1"/>
          <p:nvPr/>
        </p:nvSpPr>
        <p:spPr>
          <a:xfrm>
            <a:off x="914400" y="1280738"/>
            <a:ext cx="9919548" cy="10417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264"/>
              </a:lnSpc>
              <a:spcBef>
                <a:spcPct val="0"/>
              </a:spcBef>
            </a:pPr>
            <a:r>
              <a:rPr lang="en-US" sz="4400" b="1" dirty="0">
                <a:latin typeface="Gilroy Bold"/>
                <a:ea typeface="Gilroy Bold"/>
                <a:cs typeface="Gilroy Bold"/>
                <a:sym typeface="Gilroy Bold"/>
              </a:rPr>
              <a:t>3.REPORTE POR MICRORREGIÓN</a:t>
            </a: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524D94FD-C58F-494F-B9C6-6D057BCFDAB1}"/>
              </a:ext>
            </a:extLst>
          </p:cNvPr>
          <p:cNvSpPr txBox="1"/>
          <p:nvPr/>
        </p:nvSpPr>
        <p:spPr>
          <a:xfrm>
            <a:off x="1143000" y="2402327"/>
            <a:ext cx="3886200" cy="6323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59"/>
              </a:lnSpc>
            </a:pPr>
            <a:r>
              <a:rPr lang="en-US" sz="2800" dirty="0">
                <a:latin typeface="Gilroy Bold" panose="020B0604020202020204" charset="0"/>
                <a:ea typeface="Gilroy"/>
                <a:cs typeface="Gilroy"/>
                <a:sym typeface="Gilroy"/>
              </a:rPr>
              <a:t>MR19 PUEBLA</a:t>
            </a:r>
          </a:p>
        </p:txBody>
      </p:sp>
      <p:sp>
        <p:nvSpPr>
          <p:cNvPr id="27" name="TextBox 5">
            <a:extLst>
              <a:ext uri="{FF2B5EF4-FFF2-40B4-BE49-F238E27FC236}">
                <a16:creationId xmlns:a16="http://schemas.microsoft.com/office/drawing/2014/main" id="{F1DEBECB-E19E-4FCB-A46C-AB8DFE8E0874}"/>
              </a:ext>
            </a:extLst>
          </p:cNvPr>
          <p:cNvSpPr txBox="1"/>
          <p:nvPr/>
        </p:nvSpPr>
        <p:spPr>
          <a:xfrm>
            <a:off x="6324600" y="8994062"/>
            <a:ext cx="6754212" cy="6277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Semana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1 al 6 de </a:t>
            </a: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febrero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de 2026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FEB0E1E4-AD1A-44E0-89A2-193035560708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96079" y="462110"/>
            <a:ext cx="1371600" cy="1930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947094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2"/>
            <a:ext cx="13716000" cy="10283975"/>
            <a:chOff x="0" y="0"/>
            <a:chExt cx="17750118" cy="137119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750118" cy="13711966"/>
            </a:xfrm>
            <a:custGeom>
              <a:avLst/>
              <a:gdLst/>
              <a:ahLst/>
              <a:cxnLst/>
              <a:rect l="l" t="t" r="r" b="b"/>
              <a:pathLst>
                <a:path w="17750118" h="13711966">
                  <a:moveTo>
                    <a:pt x="0" y="0"/>
                  </a:moveTo>
                  <a:lnTo>
                    <a:pt x="17750118" y="0"/>
                  </a:lnTo>
                  <a:lnTo>
                    <a:pt x="17750118" y="13711966"/>
                  </a:lnTo>
                  <a:lnTo>
                    <a:pt x="0" y="13711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>
              <a:off x="777253" y="616144"/>
              <a:ext cx="9313341" cy="985065"/>
            </a:xfrm>
            <a:custGeom>
              <a:avLst/>
              <a:gdLst/>
              <a:ahLst/>
              <a:cxnLst/>
              <a:rect l="l" t="t" r="r" b="b"/>
              <a:pathLst>
                <a:path w="9313341" h="985065">
                  <a:moveTo>
                    <a:pt x="0" y="0"/>
                  </a:moveTo>
                  <a:lnTo>
                    <a:pt x="9313342" y="0"/>
                  </a:lnTo>
                  <a:lnTo>
                    <a:pt x="9313342" y="985065"/>
                  </a:lnTo>
                  <a:lnTo>
                    <a:pt x="0" y="9850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  <p:sp>
          <p:nvSpPr>
            <p:cNvPr id="5" name="Freeform 5"/>
            <p:cNvSpPr/>
            <p:nvPr/>
          </p:nvSpPr>
          <p:spPr>
            <a:xfrm>
              <a:off x="777253" y="13401347"/>
              <a:ext cx="16168531" cy="310619"/>
            </a:xfrm>
            <a:custGeom>
              <a:avLst/>
              <a:gdLst/>
              <a:ahLst/>
              <a:cxnLst/>
              <a:rect l="l" t="t" r="r" b="b"/>
              <a:pathLst>
                <a:path w="16168531" h="310619">
                  <a:moveTo>
                    <a:pt x="0" y="0"/>
                  </a:moveTo>
                  <a:lnTo>
                    <a:pt x="16168531" y="0"/>
                  </a:lnTo>
                  <a:lnTo>
                    <a:pt x="16168531" y="310619"/>
                  </a:lnTo>
                  <a:lnTo>
                    <a:pt x="0" y="310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1" name="TextBox 3">
            <a:extLst>
              <a:ext uri="{FF2B5EF4-FFF2-40B4-BE49-F238E27FC236}">
                <a16:creationId xmlns:a16="http://schemas.microsoft.com/office/drawing/2014/main" id="{EA22F396-4286-4590-8BF9-0639630495FE}"/>
              </a:ext>
            </a:extLst>
          </p:cNvPr>
          <p:cNvSpPr txBox="1"/>
          <p:nvPr/>
        </p:nvSpPr>
        <p:spPr>
          <a:xfrm>
            <a:off x="914400" y="1280738"/>
            <a:ext cx="9919548" cy="10417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264"/>
              </a:lnSpc>
              <a:spcBef>
                <a:spcPct val="0"/>
              </a:spcBef>
            </a:pPr>
            <a:r>
              <a:rPr lang="en-US" sz="4400" b="1" dirty="0">
                <a:latin typeface="Gilroy Bold"/>
                <a:ea typeface="Gilroy Bold"/>
                <a:cs typeface="Gilroy Bold"/>
                <a:sym typeface="Gilroy Bold"/>
              </a:rPr>
              <a:t>3.REPORTE POR MICRORREGIÓN</a:t>
            </a: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524D94FD-C58F-494F-B9C6-6D057BCFDAB1}"/>
              </a:ext>
            </a:extLst>
          </p:cNvPr>
          <p:cNvSpPr txBox="1"/>
          <p:nvPr/>
        </p:nvSpPr>
        <p:spPr>
          <a:xfrm>
            <a:off x="1143000" y="2402327"/>
            <a:ext cx="3886200" cy="6323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59"/>
              </a:lnSpc>
            </a:pPr>
            <a:r>
              <a:rPr lang="en-US" sz="2800" dirty="0">
                <a:latin typeface="Gilroy Bold" panose="020B0604020202020204" charset="0"/>
                <a:ea typeface="Gilroy"/>
                <a:cs typeface="Gilroy"/>
                <a:sym typeface="Gilroy"/>
              </a:rPr>
              <a:t>MR20 PUEBLA</a:t>
            </a:r>
          </a:p>
        </p:txBody>
      </p:sp>
      <p:sp>
        <p:nvSpPr>
          <p:cNvPr id="27" name="TextBox 5">
            <a:extLst>
              <a:ext uri="{FF2B5EF4-FFF2-40B4-BE49-F238E27FC236}">
                <a16:creationId xmlns:a16="http://schemas.microsoft.com/office/drawing/2014/main" id="{F1DEBECB-E19E-4FCB-A46C-AB8DFE8E0874}"/>
              </a:ext>
            </a:extLst>
          </p:cNvPr>
          <p:cNvSpPr txBox="1"/>
          <p:nvPr/>
        </p:nvSpPr>
        <p:spPr>
          <a:xfrm>
            <a:off x="6324600" y="8994062"/>
            <a:ext cx="6754212" cy="6277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Semana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1 al 6 de </a:t>
            </a: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febrero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de 2026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D646CA25-1513-45F3-B7F3-181A495D5A77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2386" y="430256"/>
            <a:ext cx="1775460" cy="2137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575315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2"/>
            <a:ext cx="13716000" cy="10283975"/>
            <a:chOff x="0" y="0"/>
            <a:chExt cx="17750118" cy="137119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750118" cy="13711966"/>
            </a:xfrm>
            <a:custGeom>
              <a:avLst/>
              <a:gdLst/>
              <a:ahLst/>
              <a:cxnLst/>
              <a:rect l="l" t="t" r="r" b="b"/>
              <a:pathLst>
                <a:path w="17750118" h="13711966">
                  <a:moveTo>
                    <a:pt x="0" y="0"/>
                  </a:moveTo>
                  <a:lnTo>
                    <a:pt x="17750118" y="0"/>
                  </a:lnTo>
                  <a:lnTo>
                    <a:pt x="17750118" y="13711966"/>
                  </a:lnTo>
                  <a:lnTo>
                    <a:pt x="0" y="13711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>
              <a:off x="777253" y="616144"/>
              <a:ext cx="9313341" cy="985065"/>
            </a:xfrm>
            <a:custGeom>
              <a:avLst/>
              <a:gdLst/>
              <a:ahLst/>
              <a:cxnLst/>
              <a:rect l="l" t="t" r="r" b="b"/>
              <a:pathLst>
                <a:path w="9313341" h="985065">
                  <a:moveTo>
                    <a:pt x="0" y="0"/>
                  </a:moveTo>
                  <a:lnTo>
                    <a:pt x="9313342" y="0"/>
                  </a:lnTo>
                  <a:lnTo>
                    <a:pt x="9313342" y="985065"/>
                  </a:lnTo>
                  <a:lnTo>
                    <a:pt x="0" y="9850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  <p:sp>
          <p:nvSpPr>
            <p:cNvPr id="5" name="Freeform 5"/>
            <p:cNvSpPr/>
            <p:nvPr/>
          </p:nvSpPr>
          <p:spPr>
            <a:xfrm>
              <a:off x="777253" y="13401347"/>
              <a:ext cx="16168531" cy="310619"/>
            </a:xfrm>
            <a:custGeom>
              <a:avLst/>
              <a:gdLst/>
              <a:ahLst/>
              <a:cxnLst/>
              <a:rect l="l" t="t" r="r" b="b"/>
              <a:pathLst>
                <a:path w="16168531" h="310619">
                  <a:moveTo>
                    <a:pt x="0" y="0"/>
                  </a:moveTo>
                  <a:lnTo>
                    <a:pt x="16168531" y="0"/>
                  </a:lnTo>
                  <a:lnTo>
                    <a:pt x="16168531" y="310619"/>
                  </a:lnTo>
                  <a:lnTo>
                    <a:pt x="0" y="310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1" name="TextBox 3">
            <a:extLst>
              <a:ext uri="{FF2B5EF4-FFF2-40B4-BE49-F238E27FC236}">
                <a16:creationId xmlns:a16="http://schemas.microsoft.com/office/drawing/2014/main" id="{EA22F396-4286-4590-8BF9-0639630495FE}"/>
              </a:ext>
            </a:extLst>
          </p:cNvPr>
          <p:cNvSpPr txBox="1"/>
          <p:nvPr/>
        </p:nvSpPr>
        <p:spPr>
          <a:xfrm>
            <a:off x="914400" y="1280738"/>
            <a:ext cx="9919548" cy="10417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264"/>
              </a:lnSpc>
              <a:spcBef>
                <a:spcPct val="0"/>
              </a:spcBef>
            </a:pPr>
            <a:r>
              <a:rPr lang="en-US" sz="4400" b="1" dirty="0">
                <a:latin typeface="Gilroy Bold"/>
                <a:ea typeface="Gilroy Bold"/>
                <a:cs typeface="Gilroy Bold"/>
                <a:sym typeface="Gilroy Bold"/>
              </a:rPr>
              <a:t>3.REPORTE POR MICRORREGIÓN</a:t>
            </a: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524D94FD-C58F-494F-B9C6-6D057BCFDAB1}"/>
              </a:ext>
            </a:extLst>
          </p:cNvPr>
          <p:cNvSpPr txBox="1"/>
          <p:nvPr/>
        </p:nvSpPr>
        <p:spPr>
          <a:xfrm>
            <a:off x="1143000" y="2402327"/>
            <a:ext cx="3886200" cy="6323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59"/>
              </a:lnSpc>
            </a:pPr>
            <a:r>
              <a:rPr lang="en-US" sz="2800" dirty="0">
                <a:latin typeface="Gilroy Bold" panose="020B0604020202020204" charset="0"/>
                <a:ea typeface="Gilroy"/>
                <a:cs typeface="Gilroy"/>
                <a:sym typeface="Gilroy"/>
              </a:rPr>
              <a:t>MR21 ATLIXCO</a:t>
            </a:r>
          </a:p>
        </p:txBody>
      </p:sp>
      <p:sp>
        <p:nvSpPr>
          <p:cNvPr id="27" name="TextBox 5">
            <a:extLst>
              <a:ext uri="{FF2B5EF4-FFF2-40B4-BE49-F238E27FC236}">
                <a16:creationId xmlns:a16="http://schemas.microsoft.com/office/drawing/2014/main" id="{F1DEBECB-E19E-4FCB-A46C-AB8DFE8E0874}"/>
              </a:ext>
            </a:extLst>
          </p:cNvPr>
          <p:cNvSpPr txBox="1"/>
          <p:nvPr/>
        </p:nvSpPr>
        <p:spPr>
          <a:xfrm>
            <a:off x="6324600" y="8994062"/>
            <a:ext cx="6754212" cy="6277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Semana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1 al 6 de </a:t>
            </a: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febrero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de 2026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AD65072F-ECC2-4CFF-B3E1-FA908A399C5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34768" y="554878"/>
            <a:ext cx="2444044" cy="2163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05893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2"/>
            <a:ext cx="13716000" cy="10283975"/>
            <a:chOff x="0" y="0"/>
            <a:chExt cx="17750118" cy="137119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750118" cy="13711966"/>
            </a:xfrm>
            <a:custGeom>
              <a:avLst/>
              <a:gdLst/>
              <a:ahLst/>
              <a:cxnLst/>
              <a:rect l="l" t="t" r="r" b="b"/>
              <a:pathLst>
                <a:path w="17750118" h="13711966">
                  <a:moveTo>
                    <a:pt x="0" y="0"/>
                  </a:moveTo>
                  <a:lnTo>
                    <a:pt x="17750118" y="0"/>
                  </a:lnTo>
                  <a:lnTo>
                    <a:pt x="17750118" y="13711966"/>
                  </a:lnTo>
                  <a:lnTo>
                    <a:pt x="0" y="13711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>
              <a:off x="777253" y="616144"/>
              <a:ext cx="9313341" cy="985065"/>
            </a:xfrm>
            <a:custGeom>
              <a:avLst/>
              <a:gdLst/>
              <a:ahLst/>
              <a:cxnLst/>
              <a:rect l="l" t="t" r="r" b="b"/>
              <a:pathLst>
                <a:path w="9313341" h="985065">
                  <a:moveTo>
                    <a:pt x="0" y="0"/>
                  </a:moveTo>
                  <a:lnTo>
                    <a:pt x="9313342" y="0"/>
                  </a:lnTo>
                  <a:lnTo>
                    <a:pt x="9313342" y="985065"/>
                  </a:lnTo>
                  <a:lnTo>
                    <a:pt x="0" y="9850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  <p:sp>
          <p:nvSpPr>
            <p:cNvPr id="5" name="Freeform 5"/>
            <p:cNvSpPr/>
            <p:nvPr/>
          </p:nvSpPr>
          <p:spPr>
            <a:xfrm>
              <a:off x="777253" y="13401347"/>
              <a:ext cx="16168531" cy="310619"/>
            </a:xfrm>
            <a:custGeom>
              <a:avLst/>
              <a:gdLst/>
              <a:ahLst/>
              <a:cxnLst/>
              <a:rect l="l" t="t" r="r" b="b"/>
              <a:pathLst>
                <a:path w="16168531" h="310619">
                  <a:moveTo>
                    <a:pt x="0" y="0"/>
                  </a:moveTo>
                  <a:lnTo>
                    <a:pt x="16168531" y="0"/>
                  </a:lnTo>
                  <a:lnTo>
                    <a:pt x="16168531" y="310619"/>
                  </a:lnTo>
                  <a:lnTo>
                    <a:pt x="0" y="310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1" name="TextBox 3">
            <a:extLst>
              <a:ext uri="{FF2B5EF4-FFF2-40B4-BE49-F238E27FC236}">
                <a16:creationId xmlns:a16="http://schemas.microsoft.com/office/drawing/2014/main" id="{EA22F396-4286-4590-8BF9-0639630495FE}"/>
              </a:ext>
            </a:extLst>
          </p:cNvPr>
          <p:cNvSpPr txBox="1"/>
          <p:nvPr/>
        </p:nvSpPr>
        <p:spPr>
          <a:xfrm>
            <a:off x="914400" y="1280738"/>
            <a:ext cx="9919548" cy="10417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264"/>
              </a:lnSpc>
              <a:spcBef>
                <a:spcPct val="0"/>
              </a:spcBef>
            </a:pPr>
            <a:r>
              <a:rPr lang="en-US" sz="4400" b="1" dirty="0">
                <a:latin typeface="Gilroy Bold"/>
                <a:ea typeface="Gilroy Bold"/>
                <a:cs typeface="Gilroy Bold"/>
                <a:sym typeface="Gilroy Bold"/>
              </a:rPr>
              <a:t>3.REPORTE POR MICRORREGIÓN</a:t>
            </a: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524D94FD-C58F-494F-B9C6-6D057BCFDAB1}"/>
              </a:ext>
            </a:extLst>
          </p:cNvPr>
          <p:cNvSpPr txBox="1"/>
          <p:nvPr/>
        </p:nvSpPr>
        <p:spPr>
          <a:xfrm>
            <a:off x="1142999" y="2402327"/>
            <a:ext cx="6754212" cy="6323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59"/>
              </a:lnSpc>
            </a:pPr>
            <a:r>
              <a:rPr lang="en-US" sz="2800" dirty="0">
                <a:latin typeface="Gilroy Bold" panose="020B0604020202020204" charset="0"/>
                <a:ea typeface="Gilroy"/>
                <a:cs typeface="Gilroy"/>
                <a:sym typeface="Gilroy"/>
              </a:rPr>
              <a:t>MR22 IZUCAR DE MATAMOROS</a:t>
            </a:r>
          </a:p>
        </p:txBody>
      </p:sp>
      <p:sp>
        <p:nvSpPr>
          <p:cNvPr id="27" name="TextBox 5">
            <a:extLst>
              <a:ext uri="{FF2B5EF4-FFF2-40B4-BE49-F238E27FC236}">
                <a16:creationId xmlns:a16="http://schemas.microsoft.com/office/drawing/2014/main" id="{F1DEBECB-E19E-4FCB-A46C-AB8DFE8E0874}"/>
              </a:ext>
            </a:extLst>
          </p:cNvPr>
          <p:cNvSpPr txBox="1"/>
          <p:nvPr/>
        </p:nvSpPr>
        <p:spPr>
          <a:xfrm>
            <a:off x="6324600" y="8994062"/>
            <a:ext cx="6754212" cy="6277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Semana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1 al 6 de </a:t>
            </a: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febrero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de 2026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6259F093-EB76-4BBC-BEF2-7D0F0FD4843D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81176" y="519599"/>
            <a:ext cx="1232032" cy="2299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098660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2"/>
            <a:ext cx="13716000" cy="10283975"/>
            <a:chOff x="0" y="0"/>
            <a:chExt cx="17750118" cy="137119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750118" cy="13711966"/>
            </a:xfrm>
            <a:custGeom>
              <a:avLst/>
              <a:gdLst/>
              <a:ahLst/>
              <a:cxnLst/>
              <a:rect l="l" t="t" r="r" b="b"/>
              <a:pathLst>
                <a:path w="17750118" h="13711966">
                  <a:moveTo>
                    <a:pt x="0" y="0"/>
                  </a:moveTo>
                  <a:lnTo>
                    <a:pt x="17750118" y="0"/>
                  </a:lnTo>
                  <a:lnTo>
                    <a:pt x="17750118" y="13711966"/>
                  </a:lnTo>
                  <a:lnTo>
                    <a:pt x="0" y="13711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>
              <a:off x="777253" y="616144"/>
              <a:ext cx="9313341" cy="985065"/>
            </a:xfrm>
            <a:custGeom>
              <a:avLst/>
              <a:gdLst/>
              <a:ahLst/>
              <a:cxnLst/>
              <a:rect l="l" t="t" r="r" b="b"/>
              <a:pathLst>
                <a:path w="9313341" h="985065">
                  <a:moveTo>
                    <a:pt x="0" y="0"/>
                  </a:moveTo>
                  <a:lnTo>
                    <a:pt x="9313342" y="0"/>
                  </a:lnTo>
                  <a:lnTo>
                    <a:pt x="9313342" y="985065"/>
                  </a:lnTo>
                  <a:lnTo>
                    <a:pt x="0" y="9850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  <p:sp>
          <p:nvSpPr>
            <p:cNvPr id="5" name="Freeform 5"/>
            <p:cNvSpPr/>
            <p:nvPr/>
          </p:nvSpPr>
          <p:spPr>
            <a:xfrm>
              <a:off x="777253" y="13401347"/>
              <a:ext cx="16168531" cy="310619"/>
            </a:xfrm>
            <a:custGeom>
              <a:avLst/>
              <a:gdLst/>
              <a:ahLst/>
              <a:cxnLst/>
              <a:rect l="l" t="t" r="r" b="b"/>
              <a:pathLst>
                <a:path w="16168531" h="310619">
                  <a:moveTo>
                    <a:pt x="0" y="0"/>
                  </a:moveTo>
                  <a:lnTo>
                    <a:pt x="16168531" y="0"/>
                  </a:lnTo>
                  <a:lnTo>
                    <a:pt x="16168531" y="310619"/>
                  </a:lnTo>
                  <a:lnTo>
                    <a:pt x="0" y="310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1" name="TextBox 3">
            <a:extLst>
              <a:ext uri="{FF2B5EF4-FFF2-40B4-BE49-F238E27FC236}">
                <a16:creationId xmlns:a16="http://schemas.microsoft.com/office/drawing/2014/main" id="{EA22F396-4286-4590-8BF9-0639630495FE}"/>
              </a:ext>
            </a:extLst>
          </p:cNvPr>
          <p:cNvSpPr txBox="1"/>
          <p:nvPr/>
        </p:nvSpPr>
        <p:spPr>
          <a:xfrm>
            <a:off x="914400" y="1280738"/>
            <a:ext cx="9919548" cy="10417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264"/>
              </a:lnSpc>
              <a:spcBef>
                <a:spcPct val="0"/>
              </a:spcBef>
            </a:pPr>
            <a:r>
              <a:rPr lang="en-US" sz="4400" b="1" dirty="0">
                <a:latin typeface="Gilroy Bold"/>
                <a:ea typeface="Gilroy Bold"/>
                <a:cs typeface="Gilroy Bold"/>
                <a:sym typeface="Gilroy Bold"/>
              </a:rPr>
              <a:t>3.REPORTE POR MICRORREGIÓN</a:t>
            </a: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524D94FD-C58F-494F-B9C6-6D057BCFDAB1}"/>
              </a:ext>
            </a:extLst>
          </p:cNvPr>
          <p:cNvSpPr txBox="1"/>
          <p:nvPr/>
        </p:nvSpPr>
        <p:spPr>
          <a:xfrm>
            <a:off x="1142999" y="2402327"/>
            <a:ext cx="6754212" cy="6323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59"/>
              </a:lnSpc>
            </a:pPr>
            <a:r>
              <a:rPr lang="en-US" sz="2800" dirty="0">
                <a:latin typeface="Gilroy Bold" panose="020B0604020202020204" charset="0"/>
                <a:ea typeface="Gilroy"/>
                <a:cs typeface="Gilroy"/>
                <a:sym typeface="Gilroy"/>
              </a:rPr>
              <a:t>MR23 ACATLÁN DE OZORIO</a:t>
            </a:r>
          </a:p>
        </p:txBody>
      </p:sp>
      <p:sp>
        <p:nvSpPr>
          <p:cNvPr id="27" name="TextBox 5">
            <a:extLst>
              <a:ext uri="{FF2B5EF4-FFF2-40B4-BE49-F238E27FC236}">
                <a16:creationId xmlns:a16="http://schemas.microsoft.com/office/drawing/2014/main" id="{F1DEBECB-E19E-4FCB-A46C-AB8DFE8E0874}"/>
              </a:ext>
            </a:extLst>
          </p:cNvPr>
          <p:cNvSpPr txBox="1"/>
          <p:nvPr/>
        </p:nvSpPr>
        <p:spPr>
          <a:xfrm>
            <a:off x="6324600" y="8994062"/>
            <a:ext cx="6754212" cy="6277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Semana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1 al 6 de </a:t>
            </a: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febrero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de 2026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2623EA6C-3FCB-48CB-AB72-1CF77D99BF3C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4493" y="433971"/>
            <a:ext cx="2084319" cy="1737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329427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2"/>
            <a:ext cx="13716000" cy="10283975"/>
            <a:chOff x="0" y="0"/>
            <a:chExt cx="17750118" cy="137119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750118" cy="13711966"/>
            </a:xfrm>
            <a:custGeom>
              <a:avLst/>
              <a:gdLst/>
              <a:ahLst/>
              <a:cxnLst/>
              <a:rect l="l" t="t" r="r" b="b"/>
              <a:pathLst>
                <a:path w="17750118" h="13711966">
                  <a:moveTo>
                    <a:pt x="0" y="0"/>
                  </a:moveTo>
                  <a:lnTo>
                    <a:pt x="17750118" y="0"/>
                  </a:lnTo>
                  <a:lnTo>
                    <a:pt x="17750118" y="13711966"/>
                  </a:lnTo>
                  <a:lnTo>
                    <a:pt x="0" y="13711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>
              <a:off x="777253" y="616144"/>
              <a:ext cx="9313341" cy="985065"/>
            </a:xfrm>
            <a:custGeom>
              <a:avLst/>
              <a:gdLst/>
              <a:ahLst/>
              <a:cxnLst/>
              <a:rect l="l" t="t" r="r" b="b"/>
              <a:pathLst>
                <a:path w="9313341" h="985065">
                  <a:moveTo>
                    <a:pt x="0" y="0"/>
                  </a:moveTo>
                  <a:lnTo>
                    <a:pt x="9313342" y="0"/>
                  </a:lnTo>
                  <a:lnTo>
                    <a:pt x="9313342" y="985065"/>
                  </a:lnTo>
                  <a:lnTo>
                    <a:pt x="0" y="9850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  <p:sp>
          <p:nvSpPr>
            <p:cNvPr id="5" name="Freeform 5"/>
            <p:cNvSpPr/>
            <p:nvPr/>
          </p:nvSpPr>
          <p:spPr>
            <a:xfrm>
              <a:off x="777253" y="13401347"/>
              <a:ext cx="16168531" cy="310619"/>
            </a:xfrm>
            <a:custGeom>
              <a:avLst/>
              <a:gdLst/>
              <a:ahLst/>
              <a:cxnLst/>
              <a:rect l="l" t="t" r="r" b="b"/>
              <a:pathLst>
                <a:path w="16168531" h="310619">
                  <a:moveTo>
                    <a:pt x="0" y="0"/>
                  </a:moveTo>
                  <a:lnTo>
                    <a:pt x="16168531" y="0"/>
                  </a:lnTo>
                  <a:lnTo>
                    <a:pt x="16168531" y="310619"/>
                  </a:lnTo>
                  <a:lnTo>
                    <a:pt x="0" y="310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1" name="TextBox 3">
            <a:extLst>
              <a:ext uri="{FF2B5EF4-FFF2-40B4-BE49-F238E27FC236}">
                <a16:creationId xmlns:a16="http://schemas.microsoft.com/office/drawing/2014/main" id="{EA22F396-4286-4590-8BF9-0639630495FE}"/>
              </a:ext>
            </a:extLst>
          </p:cNvPr>
          <p:cNvSpPr txBox="1"/>
          <p:nvPr/>
        </p:nvSpPr>
        <p:spPr>
          <a:xfrm>
            <a:off x="914400" y="1280738"/>
            <a:ext cx="9919548" cy="10417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264"/>
              </a:lnSpc>
              <a:spcBef>
                <a:spcPct val="0"/>
              </a:spcBef>
            </a:pPr>
            <a:r>
              <a:rPr lang="en-US" sz="4400" b="1" dirty="0">
                <a:latin typeface="Gilroy Bold"/>
                <a:ea typeface="Gilroy Bold"/>
                <a:cs typeface="Gilroy Bold"/>
                <a:sym typeface="Gilroy Bold"/>
              </a:rPr>
              <a:t>3.REPORTE POR MICRORREGIÓN</a:t>
            </a: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524D94FD-C58F-494F-B9C6-6D057BCFDAB1}"/>
              </a:ext>
            </a:extLst>
          </p:cNvPr>
          <p:cNvSpPr txBox="1"/>
          <p:nvPr/>
        </p:nvSpPr>
        <p:spPr>
          <a:xfrm>
            <a:off x="1142999" y="2402327"/>
            <a:ext cx="6754212" cy="6323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59"/>
              </a:lnSpc>
            </a:pPr>
            <a:r>
              <a:rPr lang="en-US" sz="2800" dirty="0">
                <a:latin typeface="Gilroy Bold" panose="020B0604020202020204" charset="0"/>
                <a:ea typeface="Gilroy"/>
                <a:cs typeface="Gilroy"/>
                <a:sym typeface="Gilroy"/>
              </a:rPr>
              <a:t>MR24 TEHUACÁN</a:t>
            </a:r>
          </a:p>
        </p:txBody>
      </p:sp>
      <p:sp>
        <p:nvSpPr>
          <p:cNvPr id="27" name="TextBox 5">
            <a:extLst>
              <a:ext uri="{FF2B5EF4-FFF2-40B4-BE49-F238E27FC236}">
                <a16:creationId xmlns:a16="http://schemas.microsoft.com/office/drawing/2014/main" id="{F1DEBECB-E19E-4FCB-A46C-AB8DFE8E0874}"/>
              </a:ext>
            </a:extLst>
          </p:cNvPr>
          <p:cNvSpPr txBox="1"/>
          <p:nvPr/>
        </p:nvSpPr>
        <p:spPr>
          <a:xfrm>
            <a:off x="6324600" y="8994062"/>
            <a:ext cx="6754212" cy="6277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Semana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1 al 6 de </a:t>
            </a: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febrero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de 2026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1B15B3F7-59E6-4634-952A-645AA58BD733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45037" y="462111"/>
            <a:ext cx="1770358" cy="2319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216645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2"/>
            <a:ext cx="13716000" cy="10283975"/>
            <a:chOff x="0" y="0"/>
            <a:chExt cx="17750118" cy="137119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750118" cy="13711966"/>
            </a:xfrm>
            <a:custGeom>
              <a:avLst/>
              <a:gdLst/>
              <a:ahLst/>
              <a:cxnLst/>
              <a:rect l="l" t="t" r="r" b="b"/>
              <a:pathLst>
                <a:path w="17750118" h="13711966">
                  <a:moveTo>
                    <a:pt x="0" y="0"/>
                  </a:moveTo>
                  <a:lnTo>
                    <a:pt x="17750118" y="0"/>
                  </a:lnTo>
                  <a:lnTo>
                    <a:pt x="17750118" y="13711966"/>
                  </a:lnTo>
                  <a:lnTo>
                    <a:pt x="0" y="13711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>
              <a:off x="777253" y="616144"/>
              <a:ext cx="9313341" cy="985065"/>
            </a:xfrm>
            <a:custGeom>
              <a:avLst/>
              <a:gdLst/>
              <a:ahLst/>
              <a:cxnLst/>
              <a:rect l="l" t="t" r="r" b="b"/>
              <a:pathLst>
                <a:path w="9313341" h="985065">
                  <a:moveTo>
                    <a:pt x="0" y="0"/>
                  </a:moveTo>
                  <a:lnTo>
                    <a:pt x="9313342" y="0"/>
                  </a:lnTo>
                  <a:lnTo>
                    <a:pt x="9313342" y="985065"/>
                  </a:lnTo>
                  <a:lnTo>
                    <a:pt x="0" y="9850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  <p:sp>
          <p:nvSpPr>
            <p:cNvPr id="5" name="Freeform 5"/>
            <p:cNvSpPr/>
            <p:nvPr/>
          </p:nvSpPr>
          <p:spPr>
            <a:xfrm>
              <a:off x="777253" y="13401347"/>
              <a:ext cx="16168531" cy="310619"/>
            </a:xfrm>
            <a:custGeom>
              <a:avLst/>
              <a:gdLst/>
              <a:ahLst/>
              <a:cxnLst/>
              <a:rect l="l" t="t" r="r" b="b"/>
              <a:pathLst>
                <a:path w="16168531" h="310619">
                  <a:moveTo>
                    <a:pt x="0" y="0"/>
                  </a:moveTo>
                  <a:lnTo>
                    <a:pt x="16168531" y="0"/>
                  </a:lnTo>
                  <a:lnTo>
                    <a:pt x="16168531" y="310619"/>
                  </a:lnTo>
                  <a:lnTo>
                    <a:pt x="0" y="310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1" name="TextBox 3">
            <a:extLst>
              <a:ext uri="{FF2B5EF4-FFF2-40B4-BE49-F238E27FC236}">
                <a16:creationId xmlns:a16="http://schemas.microsoft.com/office/drawing/2014/main" id="{EA22F396-4286-4590-8BF9-0639630495FE}"/>
              </a:ext>
            </a:extLst>
          </p:cNvPr>
          <p:cNvSpPr txBox="1"/>
          <p:nvPr/>
        </p:nvSpPr>
        <p:spPr>
          <a:xfrm>
            <a:off x="914400" y="1280738"/>
            <a:ext cx="9919548" cy="10417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264"/>
              </a:lnSpc>
              <a:spcBef>
                <a:spcPct val="0"/>
              </a:spcBef>
            </a:pPr>
            <a:r>
              <a:rPr lang="en-US" sz="4400" b="1" dirty="0">
                <a:latin typeface="Gilroy Bold"/>
                <a:ea typeface="Gilroy Bold"/>
                <a:cs typeface="Gilroy Bold"/>
                <a:sym typeface="Gilroy Bold"/>
              </a:rPr>
              <a:t>3.REPORTE POR MICRORREGIÓN</a:t>
            </a: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524D94FD-C58F-494F-B9C6-6D057BCFDAB1}"/>
              </a:ext>
            </a:extLst>
          </p:cNvPr>
          <p:cNvSpPr txBox="1"/>
          <p:nvPr/>
        </p:nvSpPr>
        <p:spPr>
          <a:xfrm>
            <a:off x="1142999" y="2402327"/>
            <a:ext cx="6754212" cy="6323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59"/>
              </a:lnSpc>
            </a:pPr>
            <a:r>
              <a:rPr lang="en-US" sz="2800" dirty="0">
                <a:latin typeface="Gilroy Bold" panose="020B0604020202020204" charset="0"/>
                <a:ea typeface="Gilroy"/>
                <a:cs typeface="Gilroy"/>
                <a:sym typeface="Gilroy"/>
              </a:rPr>
              <a:t>MR25 TEHUACÁN</a:t>
            </a:r>
          </a:p>
        </p:txBody>
      </p:sp>
      <p:sp>
        <p:nvSpPr>
          <p:cNvPr id="27" name="TextBox 5">
            <a:extLst>
              <a:ext uri="{FF2B5EF4-FFF2-40B4-BE49-F238E27FC236}">
                <a16:creationId xmlns:a16="http://schemas.microsoft.com/office/drawing/2014/main" id="{F1DEBECB-E19E-4FCB-A46C-AB8DFE8E0874}"/>
              </a:ext>
            </a:extLst>
          </p:cNvPr>
          <p:cNvSpPr txBox="1"/>
          <p:nvPr/>
        </p:nvSpPr>
        <p:spPr>
          <a:xfrm>
            <a:off x="6324600" y="8994062"/>
            <a:ext cx="6754212" cy="6277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Semana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1 al 6 de </a:t>
            </a: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febrero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de 2026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27763C32-D716-4226-9696-DB27165BC660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25200" y="462110"/>
            <a:ext cx="1953612" cy="2210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474965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2"/>
            <a:ext cx="13716000" cy="10283975"/>
            <a:chOff x="0" y="0"/>
            <a:chExt cx="17750118" cy="137119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750118" cy="13711966"/>
            </a:xfrm>
            <a:custGeom>
              <a:avLst/>
              <a:gdLst/>
              <a:ahLst/>
              <a:cxnLst/>
              <a:rect l="l" t="t" r="r" b="b"/>
              <a:pathLst>
                <a:path w="17750118" h="13711966">
                  <a:moveTo>
                    <a:pt x="0" y="0"/>
                  </a:moveTo>
                  <a:lnTo>
                    <a:pt x="17750118" y="0"/>
                  </a:lnTo>
                  <a:lnTo>
                    <a:pt x="17750118" y="13711966"/>
                  </a:lnTo>
                  <a:lnTo>
                    <a:pt x="0" y="13711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>
              <a:off x="777253" y="616144"/>
              <a:ext cx="9313341" cy="985065"/>
            </a:xfrm>
            <a:custGeom>
              <a:avLst/>
              <a:gdLst/>
              <a:ahLst/>
              <a:cxnLst/>
              <a:rect l="l" t="t" r="r" b="b"/>
              <a:pathLst>
                <a:path w="9313341" h="985065">
                  <a:moveTo>
                    <a:pt x="0" y="0"/>
                  </a:moveTo>
                  <a:lnTo>
                    <a:pt x="9313342" y="0"/>
                  </a:lnTo>
                  <a:lnTo>
                    <a:pt x="9313342" y="985065"/>
                  </a:lnTo>
                  <a:lnTo>
                    <a:pt x="0" y="9850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  <p:sp>
          <p:nvSpPr>
            <p:cNvPr id="5" name="Freeform 5"/>
            <p:cNvSpPr/>
            <p:nvPr/>
          </p:nvSpPr>
          <p:spPr>
            <a:xfrm>
              <a:off x="777253" y="13401347"/>
              <a:ext cx="16168531" cy="310619"/>
            </a:xfrm>
            <a:custGeom>
              <a:avLst/>
              <a:gdLst/>
              <a:ahLst/>
              <a:cxnLst/>
              <a:rect l="l" t="t" r="r" b="b"/>
              <a:pathLst>
                <a:path w="16168531" h="310619">
                  <a:moveTo>
                    <a:pt x="0" y="0"/>
                  </a:moveTo>
                  <a:lnTo>
                    <a:pt x="16168531" y="0"/>
                  </a:lnTo>
                  <a:lnTo>
                    <a:pt x="16168531" y="310619"/>
                  </a:lnTo>
                  <a:lnTo>
                    <a:pt x="0" y="310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1" name="TextBox 3">
            <a:extLst>
              <a:ext uri="{FF2B5EF4-FFF2-40B4-BE49-F238E27FC236}">
                <a16:creationId xmlns:a16="http://schemas.microsoft.com/office/drawing/2014/main" id="{EA22F396-4286-4590-8BF9-0639630495FE}"/>
              </a:ext>
            </a:extLst>
          </p:cNvPr>
          <p:cNvSpPr txBox="1"/>
          <p:nvPr/>
        </p:nvSpPr>
        <p:spPr>
          <a:xfrm>
            <a:off x="914400" y="1280738"/>
            <a:ext cx="9919548" cy="10417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264"/>
              </a:lnSpc>
              <a:spcBef>
                <a:spcPct val="0"/>
              </a:spcBef>
            </a:pPr>
            <a:r>
              <a:rPr lang="en-US" sz="4400" b="1" dirty="0">
                <a:latin typeface="Gilroy Bold"/>
                <a:ea typeface="Gilroy Bold"/>
                <a:cs typeface="Gilroy Bold"/>
                <a:sym typeface="Gilroy Bold"/>
              </a:rPr>
              <a:t>3.REPORTE POR MICRORREGIÓN</a:t>
            </a: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524D94FD-C58F-494F-B9C6-6D057BCFDAB1}"/>
              </a:ext>
            </a:extLst>
          </p:cNvPr>
          <p:cNvSpPr txBox="1"/>
          <p:nvPr/>
        </p:nvSpPr>
        <p:spPr>
          <a:xfrm>
            <a:off x="1142999" y="2402327"/>
            <a:ext cx="6754212" cy="6323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59"/>
              </a:lnSpc>
            </a:pPr>
            <a:r>
              <a:rPr lang="en-US" sz="2800" dirty="0">
                <a:latin typeface="Gilroy Bold" panose="020B0604020202020204" charset="0"/>
                <a:ea typeface="Gilroy"/>
                <a:cs typeface="Gilroy"/>
                <a:sym typeface="Gilroy"/>
              </a:rPr>
              <a:t>MR26 AJALPAN</a:t>
            </a:r>
          </a:p>
        </p:txBody>
      </p:sp>
      <p:sp>
        <p:nvSpPr>
          <p:cNvPr id="27" name="TextBox 5">
            <a:extLst>
              <a:ext uri="{FF2B5EF4-FFF2-40B4-BE49-F238E27FC236}">
                <a16:creationId xmlns:a16="http://schemas.microsoft.com/office/drawing/2014/main" id="{F1DEBECB-E19E-4FCB-A46C-AB8DFE8E0874}"/>
              </a:ext>
            </a:extLst>
          </p:cNvPr>
          <p:cNvSpPr txBox="1"/>
          <p:nvPr/>
        </p:nvSpPr>
        <p:spPr>
          <a:xfrm>
            <a:off x="6324600" y="8994062"/>
            <a:ext cx="6754212" cy="6277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Semana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1 al 6 de </a:t>
            </a: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febrero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de 2026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7FBD38C8-456E-467E-9104-71A35A8D2BA3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00998" y="451340"/>
            <a:ext cx="2414398" cy="1871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718289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2"/>
            <a:ext cx="13716000" cy="10283975"/>
            <a:chOff x="0" y="0"/>
            <a:chExt cx="17750118" cy="137119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750118" cy="13711966"/>
            </a:xfrm>
            <a:custGeom>
              <a:avLst/>
              <a:gdLst/>
              <a:ahLst/>
              <a:cxnLst/>
              <a:rect l="l" t="t" r="r" b="b"/>
              <a:pathLst>
                <a:path w="17750118" h="13711966">
                  <a:moveTo>
                    <a:pt x="0" y="0"/>
                  </a:moveTo>
                  <a:lnTo>
                    <a:pt x="17750118" y="0"/>
                  </a:lnTo>
                  <a:lnTo>
                    <a:pt x="17750118" y="13711966"/>
                  </a:lnTo>
                  <a:lnTo>
                    <a:pt x="0" y="13711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>
              <a:off x="777253" y="616144"/>
              <a:ext cx="9313341" cy="985065"/>
            </a:xfrm>
            <a:custGeom>
              <a:avLst/>
              <a:gdLst/>
              <a:ahLst/>
              <a:cxnLst/>
              <a:rect l="l" t="t" r="r" b="b"/>
              <a:pathLst>
                <a:path w="9313341" h="985065">
                  <a:moveTo>
                    <a:pt x="0" y="0"/>
                  </a:moveTo>
                  <a:lnTo>
                    <a:pt x="9313342" y="0"/>
                  </a:lnTo>
                  <a:lnTo>
                    <a:pt x="9313342" y="985065"/>
                  </a:lnTo>
                  <a:lnTo>
                    <a:pt x="0" y="9850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  <p:sp>
          <p:nvSpPr>
            <p:cNvPr id="5" name="Freeform 5"/>
            <p:cNvSpPr/>
            <p:nvPr/>
          </p:nvSpPr>
          <p:spPr>
            <a:xfrm>
              <a:off x="777253" y="13401347"/>
              <a:ext cx="16168531" cy="310619"/>
            </a:xfrm>
            <a:custGeom>
              <a:avLst/>
              <a:gdLst/>
              <a:ahLst/>
              <a:cxnLst/>
              <a:rect l="l" t="t" r="r" b="b"/>
              <a:pathLst>
                <a:path w="16168531" h="310619">
                  <a:moveTo>
                    <a:pt x="0" y="0"/>
                  </a:moveTo>
                  <a:lnTo>
                    <a:pt x="16168531" y="0"/>
                  </a:lnTo>
                  <a:lnTo>
                    <a:pt x="16168531" y="310619"/>
                  </a:lnTo>
                  <a:lnTo>
                    <a:pt x="0" y="310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1" name="TextBox 3">
            <a:extLst>
              <a:ext uri="{FF2B5EF4-FFF2-40B4-BE49-F238E27FC236}">
                <a16:creationId xmlns:a16="http://schemas.microsoft.com/office/drawing/2014/main" id="{EA22F396-4286-4590-8BF9-0639630495FE}"/>
              </a:ext>
            </a:extLst>
          </p:cNvPr>
          <p:cNvSpPr txBox="1"/>
          <p:nvPr/>
        </p:nvSpPr>
        <p:spPr>
          <a:xfrm>
            <a:off x="914400" y="1280738"/>
            <a:ext cx="9919548" cy="10417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264"/>
              </a:lnSpc>
              <a:spcBef>
                <a:spcPct val="0"/>
              </a:spcBef>
            </a:pPr>
            <a:r>
              <a:rPr lang="en-US" sz="4400" b="1" dirty="0">
                <a:latin typeface="Gilroy Bold"/>
                <a:ea typeface="Gilroy Bold"/>
                <a:cs typeface="Gilroy Bold"/>
                <a:sym typeface="Gilroy Bold"/>
              </a:rPr>
              <a:t>3.REPORTE POR MICRORREGIÓN</a:t>
            </a: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524D94FD-C58F-494F-B9C6-6D057BCFDAB1}"/>
              </a:ext>
            </a:extLst>
          </p:cNvPr>
          <p:cNvSpPr txBox="1"/>
          <p:nvPr/>
        </p:nvSpPr>
        <p:spPr>
          <a:xfrm>
            <a:off x="1142999" y="2402327"/>
            <a:ext cx="6754212" cy="6323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59"/>
              </a:lnSpc>
            </a:pPr>
            <a:r>
              <a:rPr lang="en-US" sz="2800" dirty="0">
                <a:latin typeface="Gilroy Bold" panose="020B0604020202020204" charset="0"/>
                <a:ea typeface="Gilroy"/>
                <a:cs typeface="Gilroy"/>
                <a:sym typeface="Gilroy"/>
              </a:rPr>
              <a:t>MR27 CUAHUTEMPAN</a:t>
            </a:r>
          </a:p>
        </p:txBody>
      </p:sp>
      <p:sp>
        <p:nvSpPr>
          <p:cNvPr id="27" name="TextBox 5">
            <a:extLst>
              <a:ext uri="{FF2B5EF4-FFF2-40B4-BE49-F238E27FC236}">
                <a16:creationId xmlns:a16="http://schemas.microsoft.com/office/drawing/2014/main" id="{F1DEBECB-E19E-4FCB-A46C-AB8DFE8E0874}"/>
              </a:ext>
            </a:extLst>
          </p:cNvPr>
          <p:cNvSpPr txBox="1"/>
          <p:nvPr/>
        </p:nvSpPr>
        <p:spPr>
          <a:xfrm>
            <a:off x="6324600" y="8994062"/>
            <a:ext cx="6754212" cy="6277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Semana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1 al 6 de </a:t>
            </a: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febrero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de 2026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C4207DA0-5299-448B-AD37-783990CE0A4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49000" y="462111"/>
            <a:ext cx="2061398" cy="2058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768944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2"/>
            <a:ext cx="13716000" cy="10283975"/>
            <a:chOff x="0" y="0"/>
            <a:chExt cx="17750118" cy="137119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750118" cy="13711966"/>
            </a:xfrm>
            <a:custGeom>
              <a:avLst/>
              <a:gdLst/>
              <a:ahLst/>
              <a:cxnLst/>
              <a:rect l="l" t="t" r="r" b="b"/>
              <a:pathLst>
                <a:path w="17750118" h="13711966">
                  <a:moveTo>
                    <a:pt x="0" y="0"/>
                  </a:moveTo>
                  <a:lnTo>
                    <a:pt x="17750118" y="0"/>
                  </a:lnTo>
                  <a:lnTo>
                    <a:pt x="17750118" y="13711966"/>
                  </a:lnTo>
                  <a:lnTo>
                    <a:pt x="0" y="13711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>
              <a:off x="777253" y="616144"/>
              <a:ext cx="9313341" cy="985065"/>
            </a:xfrm>
            <a:custGeom>
              <a:avLst/>
              <a:gdLst/>
              <a:ahLst/>
              <a:cxnLst/>
              <a:rect l="l" t="t" r="r" b="b"/>
              <a:pathLst>
                <a:path w="9313341" h="985065">
                  <a:moveTo>
                    <a:pt x="0" y="0"/>
                  </a:moveTo>
                  <a:lnTo>
                    <a:pt x="9313342" y="0"/>
                  </a:lnTo>
                  <a:lnTo>
                    <a:pt x="9313342" y="985065"/>
                  </a:lnTo>
                  <a:lnTo>
                    <a:pt x="0" y="9850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  <p:sp>
          <p:nvSpPr>
            <p:cNvPr id="5" name="Freeform 5"/>
            <p:cNvSpPr/>
            <p:nvPr/>
          </p:nvSpPr>
          <p:spPr>
            <a:xfrm>
              <a:off x="777253" y="13401347"/>
              <a:ext cx="16168531" cy="310619"/>
            </a:xfrm>
            <a:custGeom>
              <a:avLst/>
              <a:gdLst/>
              <a:ahLst/>
              <a:cxnLst/>
              <a:rect l="l" t="t" r="r" b="b"/>
              <a:pathLst>
                <a:path w="16168531" h="310619">
                  <a:moveTo>
                    <a:pt x="0" y="0"/>
                  </a:moveTo>
                  <a:lnTo>
                    <a:pt x="16168531" y="0"/>
                  </a:lnTo>
                  <a:lnTo>
                    <a:pt x="16168531" y="310619"/>
                  </a:lnTo>
                  <a:lnTo>
                    <a:pt x="0" y="310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1" name="TextBox 3">
            <a:extLst>
              <a:ext uri="{FF2B5EF4-FFF2-40B4-BE49-F238E27FC236}">
                <a16:creationId xmlns:a16="http://schemas.microsoft.com/office/drawing/2014/main" id="{EA22F396-4286-4590-8BF9-0639630495FE}"/>
              </a:ext>
            </a:extLst>
          </p:cNvPr>
          <p:cNvSpPr txBox="1"/>
          <p:nvPr/>
        </p:nvSpPr>
        <p:spPr>
          <a:xfrm>
            <a:off x="914400" y="1280738"/>
            <a:ext cx="9919548" cy="10417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264"/>
              </a:lnSpc>
              <a:spcBef>
                <a:spcPct val="0"/>
              </a:spcBef>
            </a:pPr>
            <a:r>
              <a:rPr lang="en-US" sz="4400" b="1" dirty="0">
                <a:latin typeface="Gilroy Bold"/>
                <a:ea typeface="Gilroy Bold"/>
                <a:cs typeface="Gilroy Bold"/>
                <a:sym typeface="Gilroy Bold"/>
              </a:rPr>
              <a:t>3.REPORTE POR MICRORREGIÓN</a:t>
            </a: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524D94FD-C58F-494F-B9C6-6D057BCFDAB1}"/>
              </a:ext>
            </a:extLst>
          </p:cNvPr>
          <p:cNvSpPr txBox="1"/>
          <p:nvPr/>
        </p:nvSpPr>
        <p:spPr>
          <a:xfrm>
            <a:off x="1142999" y="2402327"/>
            <a:ext cx="4343401" cy="6323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59"/>
              </a:lnSpc>
            </a:pPr>
            <a:r>
              <a:rPr lang="en-US" sz="2800" dirty="0">
                <a:latin typeface="Gilroy Bold" panose="020B0604020202020204" charset="0"/>
                <a:ea typeface="Gilroy"/>
                <a:cs typeface="Gilroy"/>
                <a:sym typeface="Gilroy"/>
              </a:rPr>
              <a:t>MR28 CHIAUTLA</a:t>
            </a:r>
          </a:p>
        </p:txBody>
      </p:sp>
      <p:sp>
        <p:nvSpPr>
          <p:cNvPr id="27" name="TextBox 5">
            <a:extLst>
              <a:ext uri="{FF2B5EF4-FFF2-40B4-BE49-F238E27FC236}">
                <a16:creationId xmlns:a16="http://schemas.microsoft.com/office/drawing/2014/main" id="{F1DEBECB-E19E-4FCB-A46C-AB8DFE8E0874}"/>
              </a:ext>
            </a:extLst>
          </p:cNvPr>
          <p:cNvSpPr txBox="1"/>
          <p:nvPr/>
        </p:nvSpPr>
        <p:spPr>
          <a:xfrm>
            <a:off x="6324600" y="8994062"/>
            <a:ext cx="6754212" cy="6277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Semana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1 al 6 de </a:t>
            </a: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febrero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de 2026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EED27B33-BEEF-4D65-87DE-9913696C01A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2490" y="462110"/>
            <a:ext cx="2266322" cy="2019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366954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2"/>
            <a:ext cx="13716000" cy="10283975"/>
            <a:chOff x="0" y="0"/>
            <a:chExt cx="17750118" cy="137119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750118" cy="13711966"/>
            </a:xfrm>
            <a:custGeom>
              <a:avLst/>
              <a:gdLst/>
              <a:ahLst/>
              <a:cxnLst/>
              <a:rect l="l" t="t" r="r" b="b"/>
              <a:pathLst>
                <a:path w="17750118" h="13711966">
                  <a:moveTo>
                    <a:pt x="0" y="0"/>
                  </a:moveTo>
                  <a:lnTo>
                    <a:pt x="17750118" y="0"/>
                  </a:lnTo>
                  <a:lnTo>
                    <a:pt x="17750118" y="13711966"/>
                  </a:lnTo>
                  <a:lnTo>
                    <a:pt x="0" y="13711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>
              <a:off x="777253" y="616144"/>
              <a:ext cx="9313341" cy="985065"/>
            </a:xfrm>
            <a:custGeom>
              <a:avLst/>
              <a:gdLst/>
              <a:ahLst/>
              <a:cxnLst/>
              <a:rect l="l" t="t" r="r" b="b"/>
              <a:pathLst>
                <a:path w="9313341" h="985065">
                  <a:moveTo>
                    <a:pt x="0" y="0"/>
                  </a:moveTo>
                  <a:lnTo>
                    <a:pt x="9313342" y="0"/>
                  </a:lnTo>
                  <a:lnTo>
                    <a:pt x="9313342" y="985065"/>
                  </a:lnTo>
                  <a:lnTo>
                    <a:pt x="0" y="9850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  <p:sp>
          <p:nvSpPr>
            <p:cNvPr id="5" name="Freeform 5"/>
            <p:cNvSpPr/>
            <p:nvPr/>
          </p:nvSpPr>
          <p:spPr>
            <a:xfrm>
              <a:off x="777253" y="13401347"/>
              <a:ext cx="16168531" cy="310619"/>
            </a:xfrm>
            <a:custGeom>
              <a:avLst/>
              <a:gdLst/>
              <a:ahLst/>
              <a:cxnLst/>
              <a:rect l="l" t="t" r="r" b="b"/>
              <a:pathLst>
                <a:path w="16168531" h="310619">
                  <a:moveTo>
                    <a:pt x="0" y="0"/>
                  </a:moveTo>
                  <a:lnTo>
                    <a:pt x="16168531" y="0"/>
                  </a:lnTo>
                  <a:lnTo>
                    <a:pt x="16168531" y="310619"/>
                  </a:lnTo>
                  <a:lnTo>
                    <a:pt x="0" y="310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1" name="TextBox 3">
            <a:extLst>
              <a:ext uri="{FF2B5EF4-FFF2-40B4-BE49-F238E27FC236}">
                <a16:creationId xmlns:a16="http://schemas.microsoft.com/office/drawing/2014/main" id="{EA22F396-4286-4590-8BF9-0639630495FE}"/>
              </a:ext>
            </a:extLst>
          </p:cNvPr>
          <p:cNvSpPr txBox="1"/>
          <p:nvPr/>
        </p:nvSpPr>
        <p:spPr>
          <a:xfrm>
            <a:off x="914400" y="1280738"/>
            <a:ext cx="9919548" cy="10417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264"/>
              </a:lnSpc>
              <a:spcBef>
                <a:spcPct val="0"/>
              </a:spcBef>
            </a:pPr>
            <a:r>
              <a:rPr lang="en-US" sz="4400" b="1" dirty="0">
                <a:latin typeface="Gilroy Bold"/>
                <a:ea typeface="Gilroy Bold"/>
                <a:cs typeface="Gilroy Bold"/>
                <a:sym typeface="Gilroy Bold"/>
              </a:rPr>
              <a:t>3.REPORTE POR MICRORREGIÓN</a:t>
            </a: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524D94FD-C58F-494F-B9C6-6D057BCFDAB1}"/>
              </a:ext>
            </a:extLst>
          </p:cNvPr>
          <p:cNvSpPr txBox="1"/>
          <p:nvPr/>
        </p:nvSpPr>
        <p:spPr>
          <a:xfrm>
            <a:off x="1142999" y="2402327"/>
            <a:ext cx="6248401" cy="6323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59"/>
              </a:lnSpc>
            </a:pPr>
            <a:r>
              <a:rPr lang="en-US" sz="2800" dirty="0">
                <a:latin typeface="Gilroy Bold" panose="020B0604020202020204" charset="0"/>
                <a:ea typeface="Gilroy"/>
                <a:cs typeface="Gilroy"/>
                <a:sym typeface="Gilroy"/>
              </a:rPr>
              <a:t>MR29 TEPEXI DE RODRÍGUEZ</a:t>
            </a:r>
          </a:p>
        </p:txBody>
      </p:sp>
      <p:sp>
        <p:nvSpPr>
          <p:cNvPr id="27" name="TextBox 5">
            <a:extLst>
              <a:ext uri="{FF2B5EF4-FFF2-40B4-BE49-F238E27FC236}">
                <a16:creationId xmlns:a16="http://schemas.microsoft.com/office/drawing/2014/main" id="{F1DEBECB-E19E-4FCB-A46C-AB8DFE8E0874}"/>
              </a:ext>
            </a:extLst>
          </p:cNvPr>
          <p:cNvSpPr txBox="1"/>
          <p:nvPr/>
        </p:nvSpPr>
        <p:spPr>
          <a:xfrm>
            <a:off x="6324600" y="8994062"/>
            <a:ext cx="6754212" cy="6277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Semana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1 al 6 de </a:t>
            </a: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febrero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de 2026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33244C1D-D21E-49AA-ABAB-3D46299108E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7600" y="462110"/>
            <a:ext cx="1837795" cy="2072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138768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2"/>
            <a:ext cx="13716000" cy="10283975"/>
            <a:chOff x="0" y="0"/>
            <a:chExt cx="17750118" cy="137119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750118" cy="13711966"/>
            </a:xfrm>
            <a:custGeom>
              <a:avLst/>
              <a:gdLst/>
              <a:ahLst/>
              <a:cxnLst/>
              <a:rect l="l" t="t" r="r" b="b"/>
              <a:pathLst>
                <a:path w="17750118" h="13711966">
                  <a:moveTo>
                    <a:pt x="0" y="0"/>
                  </a:moveTo>
                  <a:lnTo>
                    <a:pt x="17750118" y="0"/>
                  </a:lnTo>
                  <a:lnTo>
                    <a:pt x="17750118" y="13711966"/>
                  </a:lnTo>
                  <a:lnTo>
                    <a:pt x="0" y="13711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>
              <a:off x="777253" y="616144"/>
              <a:ext cx="9313341" cy="985065"/>
            </a:xfrm>
            <a:custGeom>
              <a:avLst/>
              <a:gdLst/>
              <a:ahLst/>
              <a:cxnLst/>
              <a:rect l="l" t="t" r="r" b="b"/>
              <a:pathLst>
                <a:path w="9313341" h="985065">
                  <a:moveTo>
                    <a:pt x="0" y="0"/>
                  </a:moveTo>
                  <a:lnTo>
                    <a:pt x="9313342" y="0"/>
                  </a:lnTo>
                  <a:lnTo>
                    <a:pt x="9313342" y="985065"/>
                  </a:lnTo>
                  <a:lnTo>
                    <a:pt x="0" y="9850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  <p:sp>
          <p:nvSpPr>
            <p:cNvPr id="5" name="Freeform 5"/>
            <p:cNvSpPr/>
            <p:nvPr/>
          </p:nvSpPr>
          <p:spPr>
            <a:xfrm>
              <a:off x="777253" y="13401347"/>
              <a:ext cx="16168531" cy="310619"/>
            </a:xfrm>
            <a:custGeom>
              <a:avLst/>
              <a:gdLst/>
              <a:ahLst/>
              <a:cxnLst/>
              <a:rect l="l" t="t" r="r" b="b"/>
              <a:pathLst>
                <a:path w="16168531" h="310619">
                  <a:moveTo>
                    <a:pt x="0" y="0"/>
                  </a:moveTo>
                  <a:lnTo>
                    <a:pt x="16168531" y="0"/>
                  </a:lnTo>
                  <a:lnTo>
                    <a:pt x="16168531" y="310619"/>
                  </a:lnTo>
                  <a:lnTo>
                    <a:pt x="0" y="310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1" name="TextBox 3">
            <a:extLst>
              <a:ext uri="{FF2B5EF4-FFF2-40B4-BE49-F238E27FC236}">
                <a16:creationId xmlns:a16="http://schemas.microsoft.com/office/drawing/2014/main" id="{EA22F396-4286-4590-8BF9-0639630495FE}"/>
              </a:ext>
            </a:extLst>
          </p:cNvPr>
          <p:cNvSpPr txBox="1"/>
          <p:nvPr/>
        </p:nvSpPr>
        <p:spPr>
          <a:xfrm>
            <a:off x="914400" y="1280738"/>
            <a:ext cx="9919548" cy="10417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264"/>
              </a:lnSpc>
              <a:spcBef>
                <a:spcPct val="0"/>
              </a:spcBef>
            </a:pPr>
            <a:r>
              <a:rPr lang="en-US" sz="4400" b="1" dirty="0">
                <a:latin typeface="Gilroy Bold"/>
                <a:ea typeface="Gilroy Bold"/>
                <a:cs typeface="Gilroy Bold"/>
                <a:sym typeface="Gilroy Bold"/>
              </a:rPr>
              <a:t>3.REPORTE POR MICRORREGIÓN</a:t>
            </a: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524D94FD-C58F-494F-B9C6-6D057BCFDAB1}"/>
              </a:ext>
            </a:extLst>
          </p:cNvPr>
          <p:cNvSpPr txBox="1"/>
          <p:nvPr/>
        </p:nvSpPr>
        <p:spPr>
          <a:xfrm>
            <a:off x="1142999" y="2402327"/>
            <a:ext cx="5029201" cy="6323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59"/>
              </a:lnSpc>
            </a:pPr>
            <a:r>
              <a:rPr lang="en-US" sz="2800" dirty="0">
                <a:latin typeface="Gilroy Bold" panose="020B0604020202020204" charset="0"/>
                <a:ea typeface="Gilroy"/>
                <a:cs typeface="Gilroy"/>
                <a:sym typeface="Gilroy"/>
              </a:rPr>
              <a:t>MR30 ACATZINGO</a:t>
            </a:r>
          </a:p>
        </p:txBody>
      </p:sp>
      <p:sp>
        <p:nvSpPr>
          <p:cNvPr id="27" name="TextBox 5">
            <a:extLst>
              <a:ext uri="{FF2B5EF4-FFF2-40B4-BE49-F238E27FC236}">
                <a16:creationId xmlns:a16="http://schemas.microsoft.com/office/drawing/2014/main" id="{F1DEBECB-E19E-4FCB-A46C-AB8DFE8E0874}"/>
              </a:ext>
            </a:extLst>
          </p:cNvPr>
          <p:cNvSpPr txBox="1"/>
          <p:nvPr/>
        </p:nvSpPr>
        <p:spPr>
          <a:xfrm>
            <a:off x="6324600" y="8994062"/>
            <a:ext cx="6754212" cy="6277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Semana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1 al 6 de </a:t>
            </a: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febrero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de 2026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C6A62013-35D2-4C68-A04B-3A604D3B51EF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48349" y="462110"/>
            <a:ext cx="1346122" cy="2392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374885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2"/>
            <a:ext cx="13716000" cy="10283975"/>
            <a:chOff x="0" y="0"/>
            <a:chExt cx="17750118" cy="137119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750118" cy="13711966"/>
            </a:xfrm>
            <a:custGeom>
              <a:avLst/>
              <a:gdLst/>
              <a:ahLst/>
              <a:cxnLst/>
              <a:rect l="l" t="t" r="r" b="b"/>
              <a:pathLst>
                <a:path w="17750118" h="13711966">
                  <a:moveTo>
                    <a:pt x="0" y="0"/>
                  </a:moveTo>
                  <a:lnTo>
                    <a:pt x="17750118" y="0"/>
                  </a:lnTo>
                  <a:lnTo>
                    <a:pt x="17750118" y="13711966"/>
                  </a:lnTo>
                  <a:lnTo>
                    <a:pt x="0" y="13711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>
              <a:off x="777253" y="616144"/>
              <a:ext cx="9313341" cy="985065"/>
            </a:xfrm>
            <a:custGeom>
              <a:avLst/>
              <a:gdLst/>
              <a:ahLst/>
              <a:cxnLst/>
              <a:rect l="l" t="t" r="r" b="b"/>
              <a:pathLst>
                <a:path w="9313341" h="985065">
                  <a:moveTo>
                    <a:pt x="0" y="0"/>
                  </a:moveTo>
                  <a:lnTo>
                    <a:pt x="9313342" y="0"/>
                  </a:lnTo>
                  <a:lnTo>
                    <a:pt x="9313342" y="985065"/>
                  </a:lnTo>
                  <a:lnTo>
                    <a:pt x="0" y="9850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  <p:sp>
          <p:nvSpPr>
            <p:cNvPr id="5" name="Freeform 5"/>
            <p:cNvSpPr/>
            <p:nvPr/>
          </p:nvSpPr>
          <p:spPr>
            <a:xfrm>
              <a:off x="777253" y="13401347"/>
              <a:ext cx="16168531" cy="310619"/>
            </a:xfrm>
            <a:custGeom>
              <a:avLst/>
              <a:gdLst/>
              <a:ahLst/>
              <a:cxnLst/>
              <a:rect l="l" t="t" r="r" b="b"/>
              <a:pathLst>
                <a:path w="16168531" h="310619">
                  <a:moveTo>
                    <a:pt x="0" y="0"/>
                  </a:moveTo>
                  <a:lnTo>
                    <a:pt x="16168531" y="0"/>
                  </a:lnTo>
                  <a:lnTo>
                    <a:pt x="16168531" y="310619"/>
                  </a:lnTo>
                  <a:lnTo>
                    <a:pt x="0" y="310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1" name="TextBox 3">
            <a:extLst>
              <a:ext uri="{FF2B5EF4-FFF2-40B4-BE49-F238E27FC236}">
                <a16:creationId xmlns:a16="http://schemas.microsoft.com/office/drawing/2014/main" id="{EA22F396-4286-4590-8BF9-0639630495FE}"/>
              </a:ext>
            </a:extLst>
          </p:cNvPr>
          <p:cNvSpPr txBox="1"/>
          <p:nvPr/>
        </p:nvSpPr>
        <p:spPr>
          <a:xfrm>
            <a:off x="914400" y="1280738"/>
            <a:ext cx="9919548" cy="10417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264"/>
              </a:lnSpc>
              <a:spcBef>
                <a:spcPct val="0"/>
              </a:spcBef>
            </a:pPr>
            <a:r>
              <a:rPr lang="en-US" sz="4400" b="1" dirty="0">
                <a:latin typeface="Gilroy Bold"/>
                <a:ea typeface="Gilroy Bold"/>
                <a:cs typeface="Gilroy Bold"/>
                <a:sym typeface="Gilroy Bold"/>
              </a:rPr>
              <a:t>3.REPORTE POR MICRORREGIÓN</a:t>
            </a: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524D94FD-C58F-494F-B9C6-6D057BCFDAB1}"/>
              </a:ext>
            </a:extLst>
          </p:cNvPr>
          <p:cNvSpPr txBox="1"/>
          <p:nvPr/>
        </p:nvSpPr>
        <p:spPr>
          <a:xfrm>
            <a:off x="1142999" y="2402327"/>
            <a:ext cx="5029201" cy="6323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59"/>
              </a:lnSpc>
            </a:pPr>
            <a:r>
              <a:rPr lang="en-US" sz="2800" dirty="0">
                <a:latin typeface="Gilroy Bold" panose="020B0604020202020204" charset="0"/>
                <a:ea typeface="Gilroy"/>
                <a:cs typeface="Gilroy"/>
                <a:sym typeface="Gilroy"/>
              </a:rPr>
              <a:t>MR31 TLATLAUQUITEPEC</a:t>
            </a:r>
          </a:p>
        </p:txBody>
      </p:sp>
      <p:sp>
        <p:nvSpPr>
          <p:cNvPr id="27" name="TextBox 5">
            <a:extLst>
              <a:ext uri="{FF2B5EF4-FFF2-40B4-BE49-F238E27FC236}">
                <a16:creationId xmlns:a16="http://schemas.microsoft.com/office/drawing/2014/main" id="{F1DEBECB-E19E-4FCB-A46C-AB8DFE8E0874}"/>
              </a:ext>
            </a:extLst>
          </p:cNvPr>
          <p:cNvSpPr txBox="1"/>
          <p:nvPr/>
        </p:nvSpPr>
        <p:spPr>
          <a:xfrm>
            <a:off x="6324600" y="8994062"/>
            <a:ext cx="6754212" cy="6277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Semana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1 al 6 de </a:t>
            </a: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febrero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de 2026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033913F6-3A55-49AC-AC4C-3EA2BE992B52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15800" y="448994"/>
            <a:ext cx="963012" cy="2307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198360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2"/>
            <a:ext cx="13716000" cy="10283975"/>
            <a:chOff x="0" y="0"/>
            <a:chExt cx="17750118" cy="137119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750118" cy="13711966"/>
            </a:xfrm>
            <a:custGeom>
              <a:avLst/>
              <a:gdLst/>
              <a:ahLst/>
              <a:cxnLst/>
              <a:rect l="l" t="t" r="r" b="b"/>
              <a:pathLst>
                <a:path w="17750118" h="13711966">
                  <a:moveTo>
                    <a:pt x="0" y="0"/>
                  </a:moveTo>
                  <a:lnTo>
                    <a:pt x="17750118" y="0"/>
                  </a:lnTo>
                  <a:lnTo>
                    <a:pt x="17750118" y="13711966"/>
                  </a:lnTo>
                  <a:lnTo>
                    <a:pt x="0" y="13711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>
              <a:off x="777253" y="616144"/>
              <a:ext cx="9313341" cy="985065"/>
            </a:xfrm>
            <a:custGeom>
              <a:avLst/>
              <a:gdLst/>
              <a:ahLst/>
              <a:cxnLst/>
              <a:rect l="l" t="t" r="r" b="b"/>
              <a:pathLst>
                <a:path w="9313341" h="985065">
                  <a:moveTo>
                    <a:pt x="0" y="0"/>
                  </a:moveTo>
                  <a:lnTo>
                    <a:pt x="9313342" y="0"/>
                  </a:lnTo>
                  <a:lnTo>
                    <a:pt x="9313342" y="985065"/>
                  </a:lnTo>
                  <a:lnTo>
                    <a:pt x="0" y="9850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  <p:sp>
          <p:nvSpPr>
            <p:cNvPr id="5" name="Freeform 5"/>
            <p:cNvSpPr/>
            <p:nvPr/>
          </p:nvSpPr>
          <p:spPr>
            <a:xfrm>
              <a:off x="777253" y="13401347"/>
              <a:ext cx="16168531" cy="310619"/>
            </a:xfrm>
            <a:custGeom>
              <a:avLst/>
              <a:gdLst/>
              <a:ahLst/>
              <a:cxnLst/>
              <a:rect l="l" t="t" r="r" b="b"/>
              <a:pathLst>
                <a:path w="16168531" h="310619">
                  <a:moveTo>
                    <a:pt x="0" y="0"/>
                  </a:moveTo>
                  <a:lnTo>
                    <a:pt x="16168531" y="0"/>
                  </a:lnTo>
                  <a:lnTo>
                    <a:pt x="16168531" y="310619"/>
                  </a:lnTo>
                  <a:lnTo>
                    <a:pt x="0" y="310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326</TotalTime>
  <Words>582</Words>
  <Application>Microsoft Office PowerPoint</Application>
  <PresentationFormat>Personalizado</PresentationFormat>
  <Paragraphs>124</Paragraphs>
  <Slides>37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37</vt:i4>
      </vt:variant>
    </vt:vector>
  </HeadingPairs>
  <TitlesOfParts>
    <vt:vector size="42" baseType="lpstr">
      <vt:lpstr>Gilroy</vt:lpstr>
      <vt:lpstr>Gilroy Bold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Dgdg Mesas de paz</dc:title>
  <cp:lastModifiedBy>Kevin Astrid Roldan Cervantes</cp:lastModifiedBy>
  <cp:revision>27</cp:revision>
  <dcterms:created xsi:type="dcterms:W3CDTF">2006-08-16T00:00:00Z</dcterms:created>
  <dcterms:modified xsi:type="dcterms:W3CDTF">2026-03-07T01:06:32Z</dcterms:modified>
  <dc:identifier>DAHDHr-bAU4</dc:identifier>
</cp:coreProperties>
</file>