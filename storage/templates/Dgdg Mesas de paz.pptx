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62" r:id="rId3"/>
    <p:sldId id="258" r:id="rId4"/>
    <p:sldId id="297" r:id="rId5"/>
    <p:sldId id="257" r:id="rId6"/>
    <p:sldId id="263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1" r:id="rId22"/>
    <p:sldId id="280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60" r:id="rId38"/>
  </p:sldIdLst>
  <p:sldSz cx="13716000" cy="10287000"/>
  <p:notesSz cx="6858000" cy="9144000"/>
  <p:embeddedFontLst>
    <p:embeddedFont>
      <p:font typeface="Calibri" panose="020F0502020204030204" pitchFamily="34" charset="0"/>
      <p:regular r:id="rId39"/>
      <p:bold r:id="rId40"/>
      <p:italic r:id="rId41"/>
      <p:boldItalic r:id="rId42"/>
    </p:embeddedFont>
    <p:embeddedFont>
      <p:font typeface="Gilroy" panose="020B0604020202020204" charset="0"/>
      <p:regular r:id="rId43"/>
    </p:embeddedFont>
    <p:embeddedFont>
      <p:font typeface="Gilroy Bold" panose="020B0604020202020204" charset="0"/>
      <p:regular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312D"/>
    <a:srgbClr val="841E38"/>
    <a:srgbClr val="CFAB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1124" y="68"/>
      </p:cViewPr>
      <p:guideLst>
        <p:guide orient="horz" pos="216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4406903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2906714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3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3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1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1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70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70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1" y="273050"/>
            <a:ext cx="2256235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8" y="273053"/>
            <a:ext cx="3833813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1" y="1435103"/>
            <a:ext cx="2256235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41"/>
            <a:ext cx="15430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41"/>
            <a:ext cx="45148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3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3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3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3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77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1" indent="-342891" algn="l" defTabSz="914377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defTabSz="914377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jpe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jpe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e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jpe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jpe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jpe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jpe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3715999" cy="10287000"/>
          </a:xfrm>
          <a:custGeom>
            <a:avLst/>
            <a:gdLst/>
            <a:ahLst/>
            <a:cxnLst/>
            <a:rect l="l" t="t" r="r" b="b"/>
            <a:pathLst>
              <a:path w="13312588" h="10287000">
                <a:moveTo>
                  <a:pt x="0" y="0"/>
                </a:moveTo>
                <a:lnTo>
                  <a:pt x="13312588" y="0"/>
                </a:lnTo>
                <a:lnTo>
                  <a:pt x="1331258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40" r="-1140" b="-2250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47524" y="411818"/>
            <a:ext cx="6985007" cy="869843"/>
          </a:xfrm>
          <a:custGeom>
            <a:avLst/>
            <a:gdLst/>
            <a:ahLst/>
            <a:cxnLst/>
            <a:rect l="l" t="t" r="r" b="b"/>
            <a:pathLst>
              <a:path w="6985006" h="869843">
                <a:moveTo>
                  <a:pt x="0" y="0"/>
                </a:moveTo>
                <a:lnTo>
                  <a:pt x="6985006" y="0"/>
                </a:lnTo>
                <a:lnTo>
                  <a:pt x="6985006" y="869844"/>
                </a:lnTo>
                <a:lnTo>
                  <a:pt x="0" y="8698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747523" y="9586623"/>
            <a:ext cx="7468012" cy="168216"/>
          </a:xfrm>
          <a:custGeom>
            <a:avLst/>
            <a:gdLst/>
            <a:ahLst/>
            <a:cxnLst/>
            <a:rect l="l" t="t" r="r" b="b"/>
            <a:pathLst>
              <a:path w="7468012" h="168216">
                <a:moveTo>
                  <a:pt x="0" y="0"/>
                </a:moveTo>
                <a:lnTo>
                  <a:pt x="7468012" y="0"/>
                </a:lnTo>
                <a:lnTo>
                  <a:pt x="7468012" y="168216"/>
                </a:lnTo>
                <a:lnTo>
                  <a:pt x="0" y="1682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258983" y="4027489"/>
            <a:ext cx="11255188" cy="1116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6617" b="1" dirty="0">
                <a:solidFill>
                  <a:srgbClr val="FFFFFF"/>
                </a:solidFill>
                <a:latin typeface="Gilroy Bold"/>
                <a:ea typeface="Gilroy Bold"/>
                <a:cs typeface="Gilroy Bold"/>
                <a:sym typeface="Gilroy Bold"/>
              </a:rPr>
              <a:t>MESAS DE PAZ Y SEGURIDAD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8983" y="3362435"/>
            <a:ext cx="9666192" cy="6650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3971" dirty="0">
                <a:solidFill>
                  <a:srgbClr val="C79C67"/>
                </a:solidFill>
                <a:latin typeface="Gilroy"/>
                <a:ea typeface="Gilroy"/>
                <a:cs typeface="Gilroy"/>
                <a:sym typeface="Gilroy"/>
              </a:rPr>
              <a:t>Fecha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83090" y="9426304"/>
            <a:ext cx="4708687" cy="393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35"/>
              </a:lnSpc>
              <a:spcBef>
                <a:spcPct val="0"/>
              </a:spcBef>
            </a:pPr>
            <a:r>
              <a:rPr lang="en-US" sz="2381">
                <a:solidFill>
                  <a:srgbClr val="FFFFFF"/>
                </a:solidFill>
                <a:latin typeface="Gilroy"/>
                <a:ea typeface="Gilroy"/>
                <a:cs typeface="Gilroy"/>
                <a:sym typeface="Gilroy"/>
              </a:rPr>
              <a:t>30 de Febrero del 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97394" y="5278054"/>
            <a:ext cx="9068615" cy="1383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3971" dirty="0">
                <a:solidFill>
                  <a:srgbClr val="FFFFFF"/>
                </a:solidFill>
                <a:latin typeface="Gilroy"/>
                <a:ea typeface="Gilroy"/>
                <a:cs typeface="Gilroy"/>
                <a:sym typeface="Gilroy"/>
              </a:rPr>
              <a:t>Dirección General de Delegaciones de Gobierno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"/>
            <a:ext cx="13715999" cy="10283975"/>
          </a:xfrm>
          <a:custGeom>
            <a:avLst/>
            <a:gdLst/>
            <a:ahLst/>
            <a:cxnLst/>
            <a:rect l="l" t="t" r="r" b="b"/>
            <a:pathLst>
              <a:path w="13312588" h="10283974">
                <a:moveTo>
                  <a:pt x="0" y="0"/>
                </a:moveTo>
                <a:lnTo>
                  <a:pt x="13312588" y="0"/>
                </a:lnTo>
                <a:lnTo>
                  <a:pt x="13312588" y="10283974"/>
                </a:lnTo>
                <a:lnTo>
                  <a:pt x="0" y="10283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01527" y="1703006"/>
            <a:ext cx="6477000" cy="10551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ORDEN DEL DÍA</a:t>
            </a:r>
          </a:p>
        </p:txBody>
      </p:sp>
      <p:sp>
        <p:nvSpPr>
          <p:cNvPr id="4" name="Freeform 4"/>
          <p:cNvSpPr/>
          <p:nvPr/>
        </p:nvSpPr>
        <p:spPr>
          <a:xfrm>
            <a:off x="747524" y="477342"/>
            <a:ext cx="6985007" cy="738799"/>
          </a:xfrm>
          <a:custGeom>
            <a:avLst/>
            <a:gdLst/>
            <a:ahLst/>
            <a:cxnLst/>
            <a:rect l="l" t="t" r="r" b="b"/>
            <a:pathLst>
              <a:path w="6985006" h="738799">
                <a:moveTo>
                  <a:pt x="0" y="0"/>
                </a:moveTo>
                <a:lnTo>
                  <a:pt x="6985006" y="0"/>
                </a:lnTo>
                <a:lnTo>
                  <a:pt x="6985006" y="738798"/>
                </a:lnTo>
                <a:lnTo>
                  <a:pt x="0" y="7387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368701" y="9426304"/>
            <a:ext cx="4723075" cy="393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35"/>
              </a:lnSpc>
              <a:spcBef>
                <a:spcPct val="0"/>
              </a:spcBef>
            </a:pPr>
            <a:r>
              <a:rPr lang="en-US" sz="2381">
                <a:solidFill>
                  <a:srgbClr val="4B4B4B"/>
                </a:solidFill>
                <a:latin typeface="Gilroy"/>
                <a:ea typeface="Gilroy"/>
                <a:cs typeface="Gilroy"/>
                <a:sym typeface="Gilroy"/>
              </a:rPr>
              <a:t>30 de Febrero del 2026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747523" y="9670731"/>
            <a:ext cx="7468012" cy="143471"/>
            <a:chOff x="0" y="0"/>
            <a:chExt cx="9957349" cy="19129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957349" cy="191294"/>
            </a:xfrm>
            <a:custGeom>
              <a:avLst/>
              <a:gdLst/>
              <a:ahLst/>
              <a:cxnLst/>
              <a:rect l="l" t="t" r="r" b="b"/>
              <a:pathLst>
                <a:path w="9957349" h="191294">
                  <a:moveTo>
                    <a:pt x="0" y="0"/>
                  </a:moveTo>
                  <a:lnTo>
                    <a:pt x="9957349" y="0"/>
                  </a:lnTo>
                  <a:lnTo>
                    <a:pt x="9957349" y="191294"/>
                  </a:lnTo>
                  <a:lnTo>
                    <a:pt x="0" y="1912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9957349" cy="191294"/>
            </a:xfrm>
            <a:custGeom>
              <a:avLst/>
              <a:gdLst/>
              <a:ahLst/>
              <a:cxnLst/>
              <a:rect l="l" t="t" r="r" b="b"/>
              <a:pathLst>
                <a:path w="9957349" h="191294">
                  <a:moveTo>
                    <a:pt x="0" y="0"/>
                  </a:moveTo>
                  <a:lnTo>
                    <a:pt x="9957349" y="0"/>
                  </a:lnTo>
                  <a:lnTo>
                    <a:pt x="9957349" y="191294"/>
                  </a:lnTo>
                  <a:lnTo>
                    <a:pt x="0" y="1912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0" name="TextBox 5">
            <a:extLst>
              <a:ext uri="{FF2B5EF4-FFF2-40B4-BE49-F238E27FC236}">
                <a16:creationId xmlns:a16="http://schemas.microsoft.com/office/drawing/2014/main" id="{889021D9-83F2-483B-8EA3-0C079360380B}"/>
              </a:ext>
            </a:extLst>
          </p:cNvPr>
          <p:cNvSpPr txBox="1"/>
          <p:nvPr/>
        </p:nvSpPr>
        <p:spPr>
          <a:xfrm>
            <a:off x="1719962" y="3543300"/>
            <a:ext cx="10276073" cy="2819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42950" indent="-742950">
              <a:lnSpc>
                <a:spcPts val="5559"/>
              </a:lnSpc>
              <a:buFont typeface="+mj-lt"/>
              <a:buAutoNum type="arabicPeriod"/>
            </a:pPr>
            <a:r>
              <a:rPr lang="en-US" sz="3971" dirty="0">
                <a:latin typeface="Gilroy"/>
                <a:ea typeface="Gilroy"/>
                <a:cs typeface="Gilroy"/>
                <a:sym typeface="Gilroy"/>
              </a:rPr>
              <a:t>Reporte General.</a:t>
            </a:r>
          </a:p>
          <a:p>
            <a:pPr marL="742950" indent="-742950">
              <a:lnSpc>
                <a:spcPts val="5559"/>
              </a:lnSpc>
              <a:buFont typeface="+mj-lt"/>
              <a:buAutoNum type="arabicPeriod"/>
            </a:pPr>
            <a:r>
              <a:rPr lang="en-US" sz="3971" dirty="0">
                <a:latin typeface="Gilroy"/>
                <a:ea typeface="Gilroy"/>
                <a:cs typeface="Gilroy"/>
                <a:sym typeface="Gilroy"/>
              </a:rPr>
              <a:t>Reporte Diario.</a:t>
            </a:r>
          </a:p>
          <a:p>
            <a:pPr marL="742950" indent="-742950">
              <a:lnSpc>
                <a:spcPts val="5559"/>
              </a:lnSpc>
              <a:buFont typeface="+mj-lt"/>
              <a:buAutoNum type="arabicPeriod"/>
            </a:pPr>
            <a:r>
              <a:rPr lang="en-US" sz="3971" dirty="0">
                <a:latin typeface="Gilroy"/>
                <a:ea typeface="Gilroy"/>
                <a:cs typeface="Gilroy"/>
                <a:sym typeface="Gilroy"/>
              </a:rPr>
              <a:t>Reporte por Mircorregión.</a:t>
            </a:r>
          </a:p>
          <a:p>
            <a:pPr marL="742950" indent="-742950">
              <a:lnSpc>
                <a:spcPts val="5559"/>
              </a:lnSpc>
              <a:buFont typeface="+mj-lt"/>
              <a:buAutoNum type="arabicPeriod"/>
            </a:pPr>
            <a:r>
              <a:rPr lang="en-US" sz="3971" dirty="0">
                <a:latin typeface="Gilroy"/>
                <a:ea typeface="Gilroy"/>
                <a:cs typeface="Gilroy"/>
                <a:sym typeface="Gilroy"/>
              </a:rPr>
              <a:t>Reportes Diarios por Microrregión.</a:t>
            </a:r>
          </a:p>
        </p:txBody>
      </p:sp>
    </p:spTree>
    <p:extLst>
      <p:ext uri="{BB962C8B-B14F-4D97-AF65-F5344CB8AC3E}">
        <p14:creationId xmlns:p14="http://schemas.microsoft.com/office/powerpoint/2010/main" val="3174868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76200" y="3025"/>
            <a:ext cx="137922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7" name="TextBox 3">
            <a:extLst>
              <a:ext uri="{FF2B5EF4-FFF2-40B4-BE49-F238E27FC236}">
                <a16:creationId xmlns:a16="http://schemas.microsoft.com/office/drawing/2014/main" id="{DB6A8119-BC10-4878-841C-E446DD6DF07E}"/>
              </a:ext>
            </a:extLst>
          </p:cNvPr>
          <p:cNvSpPr txBox="1"/>
          <p:nvPr/>
        </p:nvSpPr>
        <p:spPr>
          <a:xfrm>
            <a:off x="824652" y="1414738"/>
            <a:ext cx="5803135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1.REPORTE GENERAL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60957767-D37B-4C63-90C8-BBA01ACAF7F0}"/>
              </a:ext>
            </a:extLst>
          </p:cNvPr>
          <p:cNvSpPr txBox="1"/>
          <p:nvPr/>
        </p:nvSpPr>
        <p:spPr>
          <a:xfrm>
            <a:off x="1295400" y="3908841"/>
            <a:ext cx="3450619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>
                <a:latin typeface="Gilroy" panose="020B0604020202020204" charset="0"/>
                <a:ea typeface="Gilroy"/>
                <a:cs typeface="Gilroy"/>
                <a:sym typeface="Gilroy"/>
              </a:rPr>
              <a:t>Mesas de </a:t>
            </a: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seguridad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96FB21E9-5811-40C0-8235-73AD799DA764}"/>
              </a:ext>
            </a:extLst>
          </p:cNvPr>
          <p:cNvSpPr txBox="1"/>
          <p:nvPr/>
        </p:nvSpPr>
        <p:spPr>
          <a:xfrm>
            <a:off x="1966878" y="5946114"/>
            <a:ext cx="210766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Asistencias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46697F84-209C-49B1-914F-7BEE7C90CC4C}"/>
              </a:ext>
            </a:extLst>
          </p:cNvPr>
          <p:cNvSpPr txBox="1"/>
          <p:nvPr/>
        </p:nvSpPr>
        <p:spPr>
          <a:xfrm>
            <a:off x="1850418" y="8176065"/>
            <a:ext cx="2340581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Inasistencias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780C7D75-8A2B-4191-A7A3-CF5E7B6F2B87}"/>
              </a:ext>
            </a:extLst>
          </p:cNvPr>
          <p:cNvSpPr txBox="1"/>
          <p:nvPr/>
        </p:nvSpPr>
        <p:spPr>
          <a:xfrm>
            <a:off x="7166059" y="8562546"/>
            <a:ext cx="4699523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b="1" dirty="0">
                <a:latin typeface="Gilroy"/>
                <a:ea typeface="Gilroy"/>
                <a:cs typeface="Gilroy"/>
                <a:sym typeface="Gilroy"/>
              </a:rPr>
              <a:t>47.60% de </a:t>
            </a:r>
            <a:r>
              <a:rPr lang="en-US" sz="2800" b="1" dirty="0" err="1">
                <a:latin typeface="Gilroy"/>
                <a:ea typeface="Gilroy"/>
                <a:cs typeface="Gilroy"/>
                <a:sym typeface="Gilroy"/>
              </a:rPr>
              <a:t>cumplimiento</a:t>
            </a:r>
            <a:endParaRPr lang="en-US" sz="2800" b="1" dirty="0">
              <a:latin typeface="Gilroy"/>
              <a:ea typeface="Gilroy"/>
              <a:cs typeface="Gilroy"/>
              <a:sym typeface="Gilroy"/>
            </a:endParaRPr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0C08695E-35D2-4395-AF9D-9B144F4578E9}"/>
              </a:ext>
            </a:extLst>
          </p:cNvPr>
          <p:cNvSpPr txBox="1"/>
          <p:nvPr/>
        </p:nvSpPr>
        <p:spPr>
          <a:xfrm>
            <a:off x="1703808" y="2986263"/>
            <a:ext cx="2433392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264"/>
              </a:lnSpc>
              <a:spcBef>
                <a:spcPct val="0"/>
              </a:spcBef>
            </a:pPr>
            <a:r>
              <a:rPr lang="en-US" sz="8800" b="1" spc="-150" dirty="0">
                <a:solidFill>
                  <a:srgbClr val="CFAB7E"/>
                </a:solidFill>
                <a:latin typeface="Gilroy Bold"/>
                <a:ea typeface="Gilroy Bold"/>
                <a:cs typeface="Gilroy Bold"/>
                <a:sym typeface="Gilroy Bold"/>
              </a:rPr>
              <a:t>1029</a:t>
            </a:r>
          </a:p>
        </p:txBody>
      </p:sp>
      <p:sp>
        <p:nvSpPr>
          <p:cNvPr id="20" name="TextBox 3">
            <a:extLst>
              <a:ext uri="{FF2B5EF4-FFF2-40B4-BE49-F238E27FC236}">
                <a16:creationId xmlns:a16="http://schemas.microsoft.com/office/drawing/2014/main" id="{0E9B59A0-A71B-46C7-AE70-6528C926EA04}"/>
              </a:ext>
            </a:extLst>
          </p:cNvPr>
          <p:cNvSpPr txBox="1"/>
          <p:nvPr/>
        </p:nvSpPr>
        <p:spPr>
          <a:xfrm>
            <a:off x="1966878" y="5018631"/>
            <a:ext cx="2000727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264"/>
              </a:lnSpc>
              <a:spcBef>
                <a:spcPct val="0"/>
              </a:spcBef>
            </a:pPr>
            <a:r>
              <a:rPr lang="en-US" sz="8800" b="1" spc="-150" dirty="0">
                <a:solidFill>
                  <a:srgbClr val="0D312D"/>
                </a:solidFill>
                <a:latin typeface="Gilroy Bold"/>
                <a:ea typeface="Gilroy Bold"/>
                <a:cs typeface="Gilroy Bold"/>
                <a:sym typeface="Gilroy Bold"/>
              </a:rPr>
              <a:t>517</a:t>
            </a:r>
          </a:p>
        </p:txBody>
      </p:sp>
      <p:sp>
        <p:nvSpPr>
          <p:cNvPr id="21" name="TextBox 3">
            <a:extLst>
              <a:ext uri="{FF2B5EF4-FFF2-40B4-BE49-F238E27FC236}">
                <a16:creationId xmlns:a16="http://schemas.microsoft.com/office/drawing/2014/main" id="{00C803A2-83EF-465E-8771-DE60231D0F81}"/>
              </a:ext>
            </a:extLst>
          </p:cNvPr>
          <p:cNvSpPr txBox="1"/>
          <p:nvPr/>
        </p:nvSpPr>
        <p:spPr>
          <a:xfrm>
            <a:off x="1818901" y="7133894"/>
            <a:ext cx="2301673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264"/>
              </a:lnSpc>
              <a:spcBef>
                <a:spcPct val="0"/>
              </a:spcBef>
            </a:pPr>
            <a:r>
              <a:rPr lang="en-US" sz="8800" b="1" spc="-150" dirty="0">
                <a:solidFill>
                  <a:srgbClr val="841E38"/>
                </a:solidFill>
                <a:latin typeface="Gilroy Bold"/>
                <a:ea typeface="Gilroy Bold"/>
                <a:cs typeface="Gilroy Bold"/>
                <a:sym typeface="Gilroy Bold"/>
              </a:rPr>
              <a:t>568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B858F9DE-310A-484F-8759-FADD5C0F8500}"/>
              </a:ext>
            </a:extLst>
          </p:cNvPr>
          <p:cNvSpPr txBox="1"/>
          <p:nvPr/>
        </p:nvSpPr>
        <p:spPr>
          <a:xfrm>
            <a:off x="6172200" y="2672395"/>
            <a:ext cx="6463229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76200" y="3025"/>
            <a:ext cx="137922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7" name="TextBox 3">
            <a:extLst>
              <a:ext uri="{FF2B5EF4-FFF2-40B4-BE49-F238E27FC236}">
                <a16:creationId xmlns:a16="http://schemas.microsoft.com/office/drawing/2014/main" id="{DB6A8119-BC10-4878-841C-E446DD6DF07E}"/>
              </a:ext>
            </a:extLst>
          </p:cNvPr>
          <p:cNvSpPr txBox="1"/>
          <p:nvPr/>
        </p:nvSpPr>
        <p:spPr>
          <a:xfrm>
            <a:off x="824652" y="1414738"/>
            <a:ext cx="5803135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1.REPORTE GENERAL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60957767-D37B-4C63-90C8-BBA01ACAF7F0}"/>
              </a:ext>
            </a:extLst>
          </p:cNvPr>
          <p:cNvSpPr txBox="1"/>
          <p:nvPr/>
        </p:nvSpPr>
        <p:spPr>
          <a:xfrm>
            <a:off x="1295400" y="3908841"/>
            <a:ext cx="3450619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>
                <a:latin typeface="Gilroy" panose="020B0604020202020204" charset="0"/>
                <a:ea typeface="Gilroy"/>
                <a:cs typeface="Gilroy"/>
                <a:sym typeface="Gilroy"/>
              </a:rPr>
              <a:t>Mesas de </a:t>
            </a: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seguridad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96FB21E9-5811-40C0-8235-73AD799DA764}"/>
              </a:ext>
            </a:extLst>
          </p:cNvPr>
          <p:cNvSpPr txBox="1"/>
          <p:nvPr/>
        </p:nvSpPr>
        <p:spPr>
          <a:xfrm>
            <a:off x="1966878" y="5946114"/>
            <a:ext cx="2107662" cy="6404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Asistencias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46697F84-209C-49B1-914F-7BEE7C90CC4C}"/>
              </a:ext>
            </a:extLst>
          </p:cNvPr>
          <p:cNvSpPr txBox="1"/>
          <p:nvPr/>
        </p:nvSpPr>
        <p:spPr>
          <a:xfrm>
            <a:off x="1850418" y="8176065"/>
            <a:ext cx="2340581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 panose="020B0604020202020204" charset="0"/>
                <a:ea typeface="Gilroy"/>
                <a:cs typeface="Gilroy"/>
                <a:sym typeface="Gilroy"/>
              </a:rPr>
              <a:t>Inasistencias</a:t>
            </a:r>
            <a:endParaRPr lang="en-US" sz="2800" dirty="0">
              <a:latin typeface="Gilroy" panose="020B0604020202020204" charset="0"/>
              <a:ea typeface="Gilroy"/>
              <a:cs typeface="Gilroy"/>
              <a:sym typeface="Gilroy"/>
            </a:endParaRPr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0C08695E-35D2-4395-AF9D-9B144F4578E9}"/>
              </a:ext>
            </a:extLst>
          </p:cNvPr>
          <p:cNvSpPr txBox="1"/>
          <p:nvPr/>
        </p:nvSpPr>
        <p:spPr>
          <a:xfrm>
            <a:off x="1703808" y="2986263"/>
            <a:ext cx="2433392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264"/>
              </a:lnSpc>
              <a:spcBef>
                <a:spcPct val="0"/>
              </a:spcBef>
            </a:pPr>
            <a:r>
              <a:rPr lang="en-US" sz="8800" b="1" spc="-150" dirty="0">
                <a:solidFill>
                  <a:srgbClr val="CFAB7E"/>
                </a:solidFill>
                <a:latin typeface="Gilroy Bold"/>
                <a:ea typeface="Gilroy Bold"/>
                <a:cs typeface="Gilroy Bold"/>
                <a:sym typeface="Gilroy Bold"/>
              </a:rPr>
              <a:t>1029</a:t>
            </a:r>
          </a:p>
        </p:txBody>
      </p:sp>
      <p:sp>
        <p:nvSpPr>
          <p:cNvPr id="20" name="TextBox 3">
            <a:extLst>
              <a:ext uri="{FF2B5EF4-FFF2-40B4-BE49-F238E27FC236}">
                <a16:creationId xmlns:a16="http://schemas.microsoft.com/office/drawing/2014/main" id="{0E9B59A0-A71B-46C7-AE70-6528C926EA04}"/>
              </a:ext>
            </a:extLst>
          </p:cNvPr>
          <p:cNvSpPr txBox="1"/>
          <p:nvPr/>
        </p:nvSpPr>
        <p:spPr>
          <a:xfrm>
            <a:off x="1966878" y="5018631"/>
            <a:ext cx="2000727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264"/>
              </a:lnSpc>
              <a:spcBef>
                <a:spcPct val="0"/>
              </a:spcBef>
            </a:pPr>
            <a:r>
              <a:rPr lang="en-US" sz="8800" b="1" spc="-150" dirty="0">
                <a:solidFill>
                  <a:srgbClr val="0D312D"/>
                </a:solidFill>
                <a:latin typeface="Gilroy Bold"/>
                <a:ea typeface="Gilroy Bold"/>
                <a:cs typeface="Gilroy Bold"/>
                <a:sym typeface="Gilroy Bold"/>
              </a:rPr>
              <a:t>517</a:t>
            </a:r>
          </a:p>
        </p:txBody>
      </p:sp>
      <p:sp>
        <p:nvSpPr>
          <p:cNvPr id="21" name="TextBox 3">
            <a:extLst>
              <a:ext uri="{FF2B5EF4-FFF2-40B4-BE49-F238E27FC236}">
                <a16:creationId xmlns:a16="http://schemas.microsoft.com/office/drawing/2014/main" id="{00C803A2-83EF-465E-8771-DE60231D0F81}"/>
              </a:ext>
            </a:extLst>
          </p:cNvPr>
          <p:cNvSpPr txBox="1"/>
          <p:nvPr/>
        </p:nvSpPr>
        <p:spPr>
          <a:xfrm>
            <a:off x="1818901" y="7133894"/>
            <a:ext cx="2301673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264"/>
              </a:lnSpc>
              <a:spcBef>
                <a:spcPct val="0"/>
              </a:spcBef>
            </a:pPr>
            <a:r>
              <a:rPr lang="en-US" sz="8800" b="1" spc="-150" dirty="0">
                <a:solidFill>
                  <a:srgbClr val="841E38"/>
                </a:solidFill>
                <a:latin typeface="Gilroy Bold"/>
                <a:ea typeface="Gilroy Bold"/>
                <a:cs typeface="Gilroy Bold"/>
                <a:sym typeface="Gilroy Bold"/>
              </a:rPr>
              <a:t>568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B858F9DE-310A-484F-8759-FADD5C0F8500}"/>
              </a:ext>
            </a:extLst>
          </p:cNvPr>
          <p:cNvSpPr txBox="1"/>
          <p:nvPr/>
        </p:nvSpPr>
        <p:spPr>
          <a:xfrm>
            <a:off x="6172200" y="2667304"/>
            <a:ext cx="6463229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7 al 13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sp>
        <p:nvSpPr>
          <p:cNvPr id="15" name="TextBox 5">
            <a:extLst>
              <a:ext uri="{FF2B5EF4-FFF2-40B4-BE49-F238E27FC236}">
                <a16:creationId xmlns:a16="http://schemas.microsoft.com/office/drawing/2014/main" id="{EF140913-7CA1-4A47-9403-48A1A59FFA94}"/>
              </a:ext>
            </a:extLst>
          </p:cNvPr>
          <p:cNvSpPr txBox="1"/>
          <p:nvPr/>
        </p:nvSpPr>
        <p:spPr>
          <a:xfrm>
            <a:off x="7166059" y="8562546"/>
            <a:ext cx="4699523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b="1" dirty="0">
                <a:latin typeface="Gilroy"/>
                <a:ea typeface="Gilroy"/>
                <a:cs typeface="Gilroy"/>
                <a:sym typeface="Gilroy"/>
              </a:rPr>
              <a:t>47.60% de </a:t>
            </a:r>
            <a:r>
              <a:rPr lang="en-US" sz="2800" b="1" dirty="0" err="1">
                <a:latin typeface="Gilroy"/>
                <a:ea typeface="Gilroy"/>
                <a:cs typeface="Gilroy"/>
                <a:sym typeface="Gilroy"/>
              </a:rPr>
              <a:t>cumplimiento</a:t>
            </a:r>
            <a:endParaRPr lang="en-US" sz="2800" b="1" dirty="0">
              <a:latin typeface="Gilroy"/>
              <a:ea typeface="Gilroy"/>
              <a:cs typeface="Gilroy"/>
              <a:sym typeface="Gilroy"/>
            </a:endParaRPr>
          </a:p>
        </p:txBody>
      </p:sp>
    </p:spTree>
    <p:extLst>
      <p:ext uri="{BB962C8B-B14F-4D97-AF65-F5344CB8AC3E}">
        <p14:creationId xmlns:p14="http://schemas.microsoft.com/office/powerpoint/2010/main" val="1137005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824652" y="1414738"/>
            <a:ext cx="8776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1.REPORTE DIARIO SEMANAL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558E664C-F4F3-44E6-95A7-AD25703D9C8B}"/>
              </a:ext>
            </a:extLst>
          </p:cNvPr>
          <p:cNvSpPr txBox="1"/>
          <p:nvPr/>
        </p:nvSpPr>
        <p:spPr>
          <a:xfrm>
            <a:off x="1731971" y="2716166"/>
            <a:ext cx="4728423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sp>
        <p:nvSpPr>
          <p:cNvPr id="18" name="TextBox 5">
            <a:extLst>
              <a:ext uri="{FF2B5EF4-FFF2-40B4-BE49-F238E27FC236}">
                <a16:creationId xmlns:a16="http://schemas.microsoft.com/office/drawing/2014/main" id="{C679D47B-EF5E-433B-8D0B-DE0D1426F00A}"/>
              </a:ext>
            </a:extLst>
          </p:cNvPr>
          <p:cNvSpPr txBox="1"/>
          <p:nvPr/>
        </p:nvSpPr>
        <p:spPr>
          <a:xfrm>
            <a:off x="7723985" y="2716166"/>
            <a:ext cx="4728424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7 al 13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3964F12-9778-4E1A-BAEF-955A083705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200" y="340341"/>
            <a:ext cx="2157494" cy="2188797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450619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 XICOTEPEC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</p:spTree>
    <p:extLst>
      <p:ext uri="{BB962C8B-B14F-4D97-AF65-F5344CB8AC3E}">
        <p14:creationId xmlns:p14="http://schemas.microsoft.com/office/powerpoint/2010/main" val="518496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0386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 HUAUCHINANGO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484433E-43FB-4573-914F-A992D2B57EE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2535" y="254703"/>
            <a:ext cx="1772860" cy="2319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456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0386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MR3 CHIGNAHUAPAN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10E9CAF-FA72-4AB5-9471-D5D48EC424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8483" y="388200"/>
            <a:ext cx="2913523" cy="216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116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0386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MR4 ZACAPOAXTLA 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E8CDA9A-E0C3-4028-9707-CFE522211D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6148" y="342900"/>
            <a:ext cx="1439248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374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0386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MR5 LIBRES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286C5AF-46B6-4F7E-96AD-2D550746D87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0470" y="251379"/>
            <a:ext cx="2109008" cy="2232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844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0386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MR6 TEZIUTLÁN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A4954AD-81BE-4FDC-AC61-12A3992B3F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6948" y="275836"/>
            <a:ext cx="1408999" cy="2470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13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6553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MR7 SAN MARTÍN TEXMELUCAN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0B242D6-AC18-4AA6-B2C3-F6CEFE53578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5541" y="544599"/>
            <a:ext cx="1978866" cy="2173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4646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MR8 HUEJOTZINGO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977E1D1-6CB9-40F1-A462-A3D2D85AD7E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556" y="665203"/>
            <a:ext cx="3017256" cy="135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84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MR9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45D4DC0-EF73-4D93-901E-FCA74E73B4D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5143" y="426508"/>
            <a:ext cx="1874000" cy="1895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324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MR10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900E847-22DB-4CC8-B947-948CC552C72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7234" y="342900"/>
            <a:ext cx="1935480" cy="221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440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MR11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1EBFDAB-1FC1-4003-A2C5-1633BB89A57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8300" y="517670"/>
            <a:ext cx="1810512" cy="243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78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MR12 AMOZOC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EE25F76-B105-4F1C-AE65-6A4113DAA8D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2431" y="208833"/>
            <a:ext cx="1429169" cy="241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530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4953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MR13 TEPEACA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EE52204-176A-4648-A370-FD6C0357DF5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3028" y="312132"/>
            <a:ext cx="1178881" cy="27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420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6858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MR14 CALCHICOMULA DE SESMA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239D774-50A0-4F9D-9498-E14DF5D763E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7785" y="462110"/>
            <a:ext cx="2241126" cy="209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6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68580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MR15 TECAMACHALCO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1B1E6D3-CD41-4D63-8412-C6766F3C247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764" y="462110"/>
            <a:ext cx="2463048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3705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MR16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4D4CF5F-B62E-4255-9B5E-E52AC9F636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938" y="504947"/>
            <a:ext cx="2076745" cy="1897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499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MR17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1E0E5CB3-2FEE-4A24-8AE9-A05E97D9E09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0" y="462110"/>
            <a:ext cx="1371600" cy="1980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652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MR18 CHOLULA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042B4E-2995-4727-A002-EE51614AD17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3019" y="365970"/>
            <a:ext cx="2418581" cy="1829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9613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MR19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EB0E1E4-AD1A-44E0-89A2-19303556070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6079" y="462110"/>
            <a:ext cx="1371600" cy="1930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470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MR20 PUEBLA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646CA25-1513-45F3-B7F3-181A495D5A7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2386" y="430256"/>
            <a:ext cx="1775460" cy="213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7531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3000" y="2402327"/>
            <a:ext cx="3886200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MR21 ATLIXCO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D65072F-ECC2-4CFF-B3E1-FA908A399C5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4768" y="554878"/>
            <a:ext cx="2444044" cy="216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05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MR22 IZUCAR DE MATAMOROS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259F093-EB76-4BBC-BEF2-7D0F0FD4843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1176" y="519599"/>
            <a:ext cx="1232032" cy="2299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9866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MR23 ACATLÁN DE OZORIO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623EA6C-3FCB-48CB-AB72-1CF77D99BF3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493" y="433971"/>
            <a:ext cx="2084319" cy="1737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2942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MR24 TEHUACÁN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B15B3F7-59E6-4634-952A-645AA58BD73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5037" y="462111"/>
            <a:ext cx="1770358" cy="231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1664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MR25 TEHUACÁN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7763C32-D716-4226-9696-DB27165BC66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200" y="462110"/>
            <a:ext cx="1953612" cy="221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7496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MR26 AJALPAN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FBD38C8-456E-467E-9104-71A35A8D2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0998" y="451340"/>
            <a:ext cx="2414398" cy="1871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1828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754212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MR27 CUAHUTEMPAN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4207DA0-5299-448B-AD37-783990CE0A4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9000" y="462111"/>
            <a:ext cx="2061398" cy="205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6894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4343401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MR28 CHIAUTLA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ED27B33-BEEF-4D65-87DE-9913696C01A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2490" y="462110"/>
            <a:ext cx="2266322" cy="2019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6695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6248401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MR29 TEPEXI DE RODRÍGUEZ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3244C1D-D21E-49AA-ABAB-3D46299108E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7600" y="462110"/>
            <a:ext cx="1837795" cy="207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3876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5029201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MR30 ACATZINGO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6A62013-35D2-4C68-A04B-3A604D3B51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48349" y="462110"/>
            <a:ext cx="1346122" cy="2392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488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1" name="TextBox 3">
            <a:extLst>
              <a:ext uri="{FF2B5EF4-FFF2-40B4-BE49-F238E27FC236}">
                <a16:creationId xmlns:a16="http://schemas.microsoft.com/office/drawing/2014/main" id="{EA22F396-4286-4590-8BF9-0639630495FE}"/>
              </a:ext>
            </a:extLst>
          </p:cNvPr>
          <p:cNvSpPr txBox="1"/>
          <p:nvPr/>
        </p:nvSpPr>
        <p:spPr>
          <a:xfrm>
            <a:off x="914400" y="1280738"/>
            <a:ext cx="9919548" cy="1041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264"/>
              </a:lnSpc>
              <a:spcBef>
                <a:spcPct val="0"/>
              </a:spcBef>
            </a:pPr>
            <a:r>
              <a:rPr lang="en-US" sz="4400" b="1" dirty="0">
                <a:latin typeface="Gilroy Bold"/>
                <a:ea typeface="Gilroy Bold"/>
                <a:cs typeface="Gilroy Bold"/>
                <a:sym typeface="Gilroy Bold"/>
              </a:rPr>
              <a:t>3.REPORTE POR MICRORREGIÓN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24D94FD-C58F-494F-B9C6-6D057BCFDAB1}"/>
              </a:ext>
            </a:extLst>
          </p:cNvPr>
          <p:cNvSpPr txBox="1"/>
          <p:nvPr/>
        </p:nvSpPr>
        <p:spPr>
          <a:xfrm>
            <a:off x="1142999" y="2402327"/>
            <a:ext cx="5029201" cy="632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9"/>
              </a:lnSpc>
            </a:pPr>
            <a:r>
              <a:rPr lang="en-US" sz="2800" dirty="0">
                <a:latin typeface="Gilroy Bold" panose="020B0604020202020204" charset="0"/>
                <a:ea typeface="Gilroy"/>
                <a:cs typeface="Gilroy"/>
                <a:sym typeface="Gilroy"/>
              </a:rPr>
              <a:t>MR31 TLATLAUQUITEPEC</a:t>
            </a: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F1DEBECB-E19E-4FCB-A46C-AB8DFE8E0874}"/>
              </a:ext>
            </a:extLst>
          </p:cNvPr>
          <p:cNvSpPr txBox="1"/>
          <p:nvPr/>
        </p:nvSpPr>
        <p:spPr>
          <a:xfrm>
            <a:off x="6324600" y="8994062"/>
            <a:ext cx="6754212" cy="6277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9"/>
              </a:lnSpc>
            </a:pP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Semana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1 al 6 de </a:t>
            </a:r>
            <a:r>
              <a:rPr lang="en-US" sz="2800" dirty="0" err="1">
                <a:latin typeface="Gilroy"/>
                <a:ea typeface="Gilroy"/>
                <a:cs typeface="Gilroy"/>
                <a:sym typeface="Gilroy"/>
              </a:rPr>
              <a:t>febrero</a:t>
            </a:r>
            <a:r>
              <a:rPr lang="en-US" sz="2800" dirty="0">
                <a:latin typeface="Gilroy"/>
                <a:ea typeface="Gilroy"/>
                <a:cs typeface="Gilroy"/>
                <a:sym typeface="Gilroy"/>
              </a:rPr>
              <a:t> de 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33913F6-3A55-49AC-AC4C-3EA2BE992B5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15800" y="448994"/>
            <a:ext cx="963012" cy="2307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983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"/>
            <a:ext cx="13716000" cy="10283975"/>
            <a:chOff x="0" y="0"/>
            <a:chExt cx="17750118" cy="13711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750118" cy="13711966"/>
            </a:xfrm>
            <a:custGeom>
              <a:avLst/>
              <a:gdLst/>
              <a:ahLst/>
              <a:cxnLst/>
              <a:rect l="l" t="t" r="r" b="b"/>
              <a:pathLst>
                <a:path w="17750118" h="13711966">
                  <a:moveTo>
                    <a:pt x="0" y="0"/>
                  </a:moveTo>
                  <a:lnTo>
                    <a:pt x="17750118" y="0"/>
                  </a:lnTo>
                  <a:lnTo>
                    <a:pt x="17750118" y="13711966"/>
                  </a:lnTo>
                  <a:lnTo>
                    <a:pt x="0" y="1371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777253" y="616144"/>
              <a:ext cx="9313341" cy="985065"/>
            </a:xfrm>
            <a:custGeom>
              <a:avLst/>
              <a:gdLst/>
              <a:ahLst/>
              <a:cxnLst/>
              <a:rect l="l" t="t" r="r" b="b"/>
              <a:pathLst>
                <a:path w="9313341" h="985065">
                  <a:moveTo>
                    <a:pt x="0" y="0"/>
                  </a:moveTo>
                  <a:lnTo>
                    <a:pt x="9313342" y="0"/>
                  </a:lnTo>
                  <a:lnTo>
                    <a:pt x="9313342" y="985065"/>
                  </a:lnTo>
                  <a:lnTo>
                    <a:pt x="0" y="9850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777253" y="13401347"/>
              <a:ext cx="16168531" cy="310619"/>
            </a:xfrm>
            <a:custGeom>
              <a:avLst/>
              <a:gdLst/>
              <a:ahLst/>
              <a:cxnLst/>
              <a:rect l="l" t="t" r="r" b="b"/>
              <a:pathLst>
                <a:path w="16168531" h="310619">
                  <a:moveTo>
                    <a:pt x="0" y="0"/>
                  </a:moveTo>
                  <a:lnTo>
                    <a:pt x="16168531" y="0"/>
                  </a:lnTo>
                  <a:lnTo>
                    <a:pt x="16168531" y="310619"/>
                  </a:lnTo>
                  <a:lnTo>
                    <a:pt x="0" y="310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</TotalTime>
  <Words>582</Words>
  <Application>Microsoft Office PowerPoint</Application>
  <PresentationFormat>Personalizado</PresentationFormat>
  <Paragraphs>124</Paragraphs>
  <Slides>37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37</vt:i4>
      </vt:variant>
    </vt:vector>
  </HeadingPairs>
  <TitlesOfParts>
    <vt:vector size="42" baseType="lpstr">
      <vt:lpstr>Gilroy Bold</vt:lpstr>
      <vt:lpstr>Arial</vt:lpstr>
      <vt:lpstr>Gilroy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Dgdg Mesas de paz</dc:title>
  <cp:lastModifiedBy>Kevin Astrid Roldan Cervantes</cp:lastModifiedBy>
  <cp:revision>34</cp:revision>
  <dcterms:created xsi:type="dcterms:W3CDTF">2006-08-16T00:00:00Z</dcterms:created>
  <dcterms:modified xsi:type="dcterms:W3CDTF">2026-04-10T19:34:53Z</dcterms:modified>
  <dc:identifier>DAHDHr-bAU4</dc:identifier>
</cp:coreProperties>
</file>